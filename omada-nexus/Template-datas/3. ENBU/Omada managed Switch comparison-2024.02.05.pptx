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49" r:id="rId2"/>
    <p:sldId id="379" r:id="rId3"/>
    <p:sldId id="376" r:id="rId4"/>
    <p:sldId id="377" r:id="rId5"/>
    <p:sldId id="378" r:id="rId6"/>
    <p:sldId id="352" r:id="rId7"/>
    <p:sldId id="348" r:id="rId8"/>
    <p:sldId id="364" r:id="rId9"/>
    <p:sldId id="363" r:id="rId10"/>
    <p:sldId id="282" r:id="rId11"/>
    <p:sldId id="354" r:id="rId12"/>
    <p:sldId id="353" r:id="rId13"/>
    <p:sldId id="358" r:id="rId14"/>
    <p:sldId id="283" r:id="rId15"/>
    <p:sldId id="284" r:id="rId16"/>
    <p:sldId id="285" r:id="rId17"/>
    <p:sldId id="286" r:id="rId18"/>
    <p:sldId id="287" r:id="rId19"/>
    <p:sldId id="288" r:id="rId20"/>
    <p:sldId id="291" r:id="rId21"/>
    <p:sldId id="289" r:id="rId22"/>
    <p:sldId id="381" r:id="rId23"/>
    <p:sldId id="356" r:id="rId24"/>
    <p:sldId id="290" r:id="rId25"/>
    <p:sldId id="355" r:id="rId26"/>
    <p:sldId id="366" r:id="rId27"/>
    <p:sldId id="292" r:id="rId28"/>
    <p:sldId id="293" r:id="rId29"/>
    <p:sldId id="334" r:id="rId30"/>
    <p:sldId id="296" r:id="rId31"/>
    <p:sldId id="365" r:id="rId32"/>
    <p:sldId id="341" r:id="rId33"/>
    <p:sldId id="297" r:id="rId34"/>
    <p:sldId id="380" r:id="rId35"/>
    <p:sldId id="367" r:id="rId36"/>
    <p:sldId id="368" r:id="rId37"/>
    <p:sldId id="369" r:id="rId38"/>
    <p:sldId id="370" r:id="rId39"/>
    <p:sldId id="371" r:id="rId40"/>
    <p:sldId id="372" r:id="rId41"/>
    <p:sldId id="373" r:id="rId42"/>
    <p:sldId id="374" r:id="rId43"/>
    <p:sldId id="375" r:id="rId44"/>
    <p:sldId id="305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0"/>
    <a:srgbClr val="FFFFFF"/>
    <a:srgbClr val="2ABDF2"/>
    <a:srgbClr val="D2DEEF"/>
    <a:srgbClr val="EAEFF7"/>
    <a:srgbClr val="005565"/>
    <a:srgbClr val="50BDC9"/>
    <a:srgbClr val="DEEBF7"/>
    <a:srgbClr val="005464"/>
    <a:srgbClr val="8D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esktop\&#26377;&#32447;&#39033;&#30446;\&#36335;&#30001;&#22120;\TL-ER7206%201.0\TL-ER7206&#24615;&#33021;&#25968;&#25454;%20202010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esktop\&#26377;&#32447;&#39033;&#30446;\&#36335;&#30001;&#22120;\TL-ER7206%201.0\TL-ER7206&#24615;&#33021;&#25968;&#25454;%20202010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r>
              <a:rPr lang="en-US" sz="1100">
                <a:solidFill>
                  <a:schemeClr val="tx1"/>
                </a:solidFill>
              </a:rPr>
              <a:t>UDP</a:t>
            </a:r>
            <a:r>
              <a:rPr lang="zh-CN" sz="1100">
                <a:solidFill>
                  <a:schemeClr val="tx1"/>
                </a:solidFill>
              </a:rPr>
              <a:t>报文转发率</a:t>
            </a:r>
            <a:r>
              <a:rPr lang="en-US" sz="1100">
                <a:solidFill>
                  <a:schemeClr val="tx1"/>
                </a:solidFill>
              </a:rPr>
              <a:t> / Mbps</a:t>
            </a:r>
          </a:p>
        </c:rich>
      </c:tx>
      <c:layout>
        <c:manualLayout>
          <c:xMode val="edge"/>
          <c:yMode val="edge"/>
          <c:x val="0.40155789524904689"/>
          <c:y val="1.745524516372882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UDP报文转发率!$D$13</c:f>
              <c:strCache>
                <c:ptCount val="1"/>
                <c:pt idx="0">
                  <c:v>ER7206 (TL-ER7206)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5912095035045714E-17"/>
                  <c:y val="6.98209806549152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F4F-4CA5-B3CA-B499E66C8405}"/>
                </c:ext>
              </c:extLst>
            </c:dLbl>
            <c:dLbl>
              <c:idx val="1"/>
              <c:layout>
                <c:manualLayout>
                  <c:x val="1.9094734623510471E-2"/>
                  <c:y val="1.1528490072214372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mtClean="0"/>
                      <a:t>1000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F4F-4CA5-B3CA-B499E66C8405}"/>
                </c:ext>
              </c:extLst>
            </c:dLbl>
            <c:dLbl>
              <c:idx val="2"/>
              <c:layout>
                <c:manualLayout>
                  <c:x val="-1.7358849657736473E-3"/>
                  <c:y val="7.509720201849836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F4F-4CA5-B3CA-B499E66C8405}"/>
                </c:ext>
              </c:extLst>
            </c:dLbl>
            <c:dLbl>
              <c:idx val="3"/>
              <c:layout>
                <c:manualLayout>
                  <c:x val="-3.4717699315473583E-3"/>
                  <c:y val="1.39641961309830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F4F-4CA5-B3CA-B499E66C840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F4F-4CA5-B3CA-B499E66C8405}"/>
                </c:ext>
              </c:extLst>
            </c:dLbl>
            <c:dLbl>
              <c:idx val="5"/>
              <c:layout>
                <c:manualLayout>
                  <c:x val="-3.4717699315473583E-3"/>
                  <c:y val="2.443734322922035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F4F-4CA5-B3CA-B499E66C8405}"/>
                </c:ext>
              </c:extLst>
            </c:dLbl>
            <c:dLbl>
              <c:idx val="6"/>
              <c:layout>
                <c:manualLayout>
                  <c:x val="-1.2729676028036571E-16"/>
                  <c:y val="1.74552451637286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F4F-4CA5-B3CA-B499E66C840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F4F-4CA5-B3CA-B499E66C8405}"/>
                </c:ext>
              </c:extLst>
            </c:dLbl>
            <c:dLbl>
              <c:idx val="8"/>
              <c:layout>
                <c:manualLayout>
                  <c:x val="0"/>
                  <c:y val="6.982098065491529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F4F-4CA5-B3CA-B499E66C84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UDP报文转发率!$E$11:$M$12</c:f>
              <c:multiLvlStrCache>
                <c:ptCount val="9"/>
                <c:lvl>
                  <c:pt idx="0">
                    <c:v>66 </c:v>
                  </c:pt>
                  <c:pt idx="1">
                    <c:v>1518 </c:v>
                  </c:pt>
                  <c:pt idx="2">
                    <c:v>Imix</c:v>
                  </c:pt>
                  <c:pt idx="3">
                    <c:v>66 </c:v>
                  </c:pt>
                  <c:pt idx="4">
                    <c:v>1518 </c:v>
                  </c:pt>
                  <c:pt idx="5">
                    <c:v>Imix</c:v>
                  </c:pt>
                  <c:pt idx="6">
                    <c:v>66 </c:v>
                  </c:pt>
                  <c:pt idx="7">
                    <c:v>1518 </c:v>
                  </c:pt>
                  <c:pt idx="8">
                    <c:v>Imix</c:v>
                  </c:pt>
                </c:lvl>
                <c:lvl>
                  <c:pt idx="0">
                    <c:v>上行</c:v>
                  </c:pt>
                  <c:pt idx="3">
                    <c:v>下行</c:v>
                  </c:pt>
                  <c:pt idx="6">
                    <c:v>双向</c:v>
                  </c:pt>
                </c:lvl>
              </c:multiLvlStrCache>
            </c:multiLvlStrRef>
          </c:cat>
          <c:val>
            <c:numRef>
              <c:f>UDP报文转发率!$E$13:$M$13</c:f>
              <c:numCache>
                <c:formatCode>0_);[Red]\(0\)</c:formatCode>
                <c:ptCount val="9"/>
                <c:pt idx="0">
                  <c:v>334.99799999999999</c:v>
                </c:pt>
                <c:pt idx="1">
                  <c:v>997.42100000000005</c:v>
                </c:pt>
                <c:pt idx="2">
                  <c:v>980.28499999999997</c:v>
                </c:pt>
                <c:pt idx="3">
                  <c:v>336.00099999999998</c:v>
                </c:pt>
                <c:pt idx="4">
                  <c:v>996.98</c:v>
                </c:pt>
                <c:pt idx="5">
                  <c:v>970.44500000000005</c:v>
                </c:pt>
                <c:pt idx="6">
                  <c:v>336.00099999999998</c:v>
                </c:pt>
                <c:pt idx="7">
                  <c:v>1992</c:v>
                </c:pt>
                <c:pt idx="8">
                  <c:v>1446.0170000000001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D3-435A-8525-D7373DD87AA2}"/>
            </c:ext>
          </c:extLst>
        </c:ser>
        <c:ser>
          <c:idx val="2"/>
          <c:order val="2"/>
          <c:tx>
            <c:strRef>
              <c:f>UDP报文转发率!$D$15</c:f>
              <c:strCache>
                <c:ptCount val="1"/>
                <c:pt idx="0">
                  <c:v>USG</c:v>
                </c:pt>
              </c:strCache>
            </c:strRef>
          </c:tx>
          <c:spPr>
            <a:solidFill>
              <a:srgbClr val="00556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358849657736633E-3"/>
                  <c:y val="2.443734322922035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F4F-4CA5-B3CA-B499E66C8405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F4F-4CA5-B3CA-B499E66C8405}"/>
                </c:ext>
              </c:extLst>
            </c:dLbl>
            <c:dLbl>
              <c:idx val="2"/>
              <c:layout>
                <c:manualLayout>
                  <c:x val="3.4717699315473583E-3"/>
                  <c:y val="2.09462941964745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F4F-4CA5-B3CA-B499E66C8405}"/>
                </c:ext>
              </c:extLst>
            </c:dLbl>
            <c:dLbl>
              <c:idx val="3"/>
              <c:layout>
                <c:manualLayout>
                  <c:x val="3.4717699315473583E-3"/>
                  <c:y val="2.79283922619661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F4F-4CA5-B3CA-B499E66C8405}"/>
                </c:ext>
              </c:extLst>
            </c:dLbl>
            <c:dLbl>
              <c:idx val="4"/>
              <c:layout>
                <c:manualLayout>
                  <c:x val="-2.4302389520831573E-2"/>
                  <c:y val="1.60750794814584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F4F-4CA5-B3CA-B499E66C8405}"/>
                </c:ext>
              </c:extLst>
            </c:dLbl>
            <c:dLbl>
              <c:idx val="5"/>
              <c:layout>
                <c:manualLayout>
                  <c:x val="3.4717699315472308E-3"/>
                  <c:y val="2.09462941964745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F4F-4CA5-B3CA-B499E66C8405}"/>
                </c:ext>
              </c:extLst>
            </c:dLbl>
            <c:dLbl>
              <c:idx val="6"/>
              <c:layout>
                <c:manualLayout>
                  <c:x val="0"/>
                  <c:y val="1.396419613098305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F4F-4CA5-B3CA-B499E66C8405}"/>
                </c:ext>
              </c:extLst>
            </c:dLbl>
            <c:dLbl>
              <c:idx val="7"/>
              <c:layout>
                <c:manualLayout>
                  <c:x val="-1.7358849657736791E-2"/>
                  <c:y val="1.554725994257905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F4F-4CA5-B3CA-B499E66C8405}"/>
                </c:ext>
              </c:extLst>
            </c:dLbl>
            <c:dLbl>
              <c:idx val="8"/>
              <c:layout>
                <c:manualLayout>
                  <c:x val="0"/>
                  <c:y val="1.047314709823729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F4F-4CA5-B3CA-B499E66C84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UDP报文转发率!$E$11:$M$12</c:f>
              <c:multiLvlStrCache>
                <c:ptCount val="9"/>
                <c:lvl>
                  <c:pt idx="0">
                    <c:v>66 </c:v>
                  </c:pt>
                  <c:pt idx="1">
                    <c:v>1518 </c:v>
                  </c:pt>
                  <c:pt idx="2">
                    <c:v>Imix</c:v>
                  </c:pt>
                  <c:pt idx="3">
                    <c:v>66 </c:v>
                  </c:pt>
                  <c:pt idx="4">
                    <c:v>1518 </c:v>
                  </c:pt>
                  <c:pt idx="5">
                    <c:v>Imix</c:v>
                  </c:pt>
                  <c:pt idx="6">
                    <c:v>66 </c:v>
                  </c:pt>
                  <c:pt idx="7">
                    <c:v>1518 </c:v>
                  </c:pt>
                  <c:pt idx="8">
                    <c:v>Imix</c:v>
                  </c:pt>
                </c:lvl>
                <c:lvl>
                  <c:pt idx="0">
                    <c:v>上行</c:v>
                  </c:pt>
                  <c:pt idx="3">
                    <c:v>下行</c:v>
                  </c:pt>
                  <c:pt idx="6">
                    <c:v>双向</c:v>
                  </c:pt>
                </c:lvl>
              </c:multiLvlStrCache>
            </c:multiLvlStrRef>
          </c:cat>
          <c:val>
            <c:numRef>
              <c:f>UDP报文转发率!$E$15:$M$15</c:f>
              <c:numCache>
                <c:formatCode>0_);[Red]\(0\)</c:formatCode>
                <c:ptCount val="9"/>
                <c:pt idx="0">
                  <c:v>188.21299999999999</c:v>
                </c:pt>
                <c:pt idx="1">
                  <c:v>999.995</c:v>
                </c:pt>
                <c:pt idx="2">
                  <c:v>822.51900000000001</c:v>
                </c:pt>
                <c:pt idx="3">
                  <c:v>190.001</c:v>
                </c:pt>
                <c:pt idx="4">
                  <c:v>999.995</c:v>
                </c:pt>
                <c:pt idx="5">
                  <c:v>822.34199999999998</c:v>
                </c:pt>
                <c:pt idx="6">
                  <c:v>313.99900000000002</c:v>
                </c:pt>
                <c:pt idx="7">
                  <c:v>1999.9780000000001</c:v>
                </c:pt>
                <c:pt idx="8">
                  <c:v>1486.2850000000001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D3-435A-8525-D7373DD87AA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00633112"/>
        <c:axId val="70063350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UDP报文转发率!$D$14</c15:sqref>
                        </c15:formulaRef>
                      </c:ext>
                    </c:extLst>
                    <c:strCache>
                      <c:ptCount val="1"/>
                      <c:pt idx="0">
                        <c:v>TL-ER6120</c:v>
                      </c:pt>
                    </c:strCache>
                  </c:strRef>
                </c:tx>
                <c:spPr>
                  <a:solidFill>
                    <a:srgbClr val="00A3D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8.0375397407292208E-3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2-FF4F-4CA5-B3CA-B499E66C8405}"/>
                      </c:ext>
                    </c:extLst>
                  </c:dLbl>
                  <c:dLbl>
                    <c:idx val="1"/>
                    <c:delete val="1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3-FF4F-4CA5-B3CA-B499E66C8405}"/>
                      </c:ext>
                    </c:extLst>
                  </c:dLbl>
                  <c:dLbl>
                    <c:idx val="2"/>
                    <c:layout>
                      <c:manualLayout>
                        <c:x val="1.7358849657736792E-3"/>
                        <c:y val="0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4-FF4F-4CA5-B3CA-B499E66C8405}"/>
                      </c:ext>
                    </c:extLst>
                  </c:dLbl>
                  <c:dLbl>
                    <c:idx val="3"/>
                    <c:layout>
                      <c:manualLayout>
                        <c:x val="0"/>
                        <c:y val="1.3964117764513301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5-FF4F-4CA5-B3CA-B499E66C8405}"/>
                      </c:ext>
                    </c:extLst>
                  </c:dLbl>
                  <c:dLbl>
                    <c:idx val="4"/>
                    <c:delete val="1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6-FF4F-4CA5-B3CA-B499E66C8405}"/>
                      </c:ext>
                    </c:extLst>
                  </c:dLbl>
                  <c:dLbl>
                    <c:idx val="5"/>
                    <c:layout>
                      <c:manualLayout>
                        <c:x val="5.2076548973210377E-3"/>
                        <c:y val="1.7455245163728761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7-FF4F-4CA5-B3CA-B499E66C8405}"/>
                      </c:ext>
                    </c:extLst>
                  </c:dLbl>
                  <c:dLbl>
                    <c:idx val="6"/>
                    <c:layout>
                      <c:manualLayout>
                        <c:x val="-1.2729676028036571E-16"/>
                        <c:y val="2.0946294196474591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8-FF4F-4CA5-B3CA-B499E66C8405}"/>
                      </c:ext>
                    </c:extLst>
                  </c:dLbl>
                  <c:dLbl>
                    <c:idx val="7"/>
                    <c:delete val="1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9-FF4F-4CA5-B3CA-B499E66C8405}"/>
                      </c:ext>
                    </c:extLst>
                  </c:dLbl>
                  <c:dLbl>
                    <c:idx val="8"/>
                    <c:layout>
                      <c:manualLayout>
                        <c:x val="0"/>
                        <c:y val="1.58719259179328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1A-FF4F-4CA5-B3CA-B499E66C8405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anchor="ctr" anchorCtr="1"/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UDP报文转发率!$E$11:$M$12</c15:sqref>
                        </c15:formulaRef>
                      </c:ext>
                    </c:extLst>
                    <c:multiLvlStrCache>
                      <c:ptCount val="9"/>
                      <c:lvl>
                        <c:pt idx="0">
                          <c:v>66 </c:v>
                        </c:pt>
                        <c:pt idx="1">
                          <c:v>1518 </c:v>
                        </c:pt>
                        <c:pt idx="2">
                          <c:v>Imix</c:v>
                        </c:pt>
                        <c:pt idx="3">
                          <c:v>66 </c:v>
                        </c:pt>
                        <c:pt idx="4">
                          <c:v>1518 </c:v>
                        </c:pt>
                        <c:pt idx="5">
                          <c:v>Imix</c:v>
                        </c:pt>
                        <c:pt idx="6">
                          <c:v>66 </c:v>
                        </c:pt>
                        <c:pt idx="7">
                          <c:v>1518 </c:v>
                        </c:pt>
                        <c:pt idx="8">
                          <c:v>Imix</c:v>
                        </c:pt>
                      </c:lvl>
                      <c:lvl>
                        <c:pt idx="0">
                          <c:v>上行</c:v>
                        </c:pt>
                        <c:pt idx="3">
                          <c:v>下行</c:v>
                        </c:pt>
                        <c:pt idx="6">
                          <c:v>双向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UDP报文转发率!$E$14:$M$14</c15:sqref>
                        </c15:formulaRef>
                      </c:ext>
                    </c:extLst>
                    <c:numCache>
                      <c:formatCode>0_);[Red]\(0\)</c:formatCode>
                      <c:ptCount val="9"/>
                      <c:pt idx="0">
                        <c:v>190.00200000000001</c:v>
                      </c:pt>
                      <c:pt idx="1">
                        <c:v>999.995</c:v>
                      </c:pt>
                      <c:pt idx="2">
                        <c:v>851.79200000000003</c:v>
                      </c:pt>
                      <c:pt idx="3">
                        <c:v>210.191</c:v>
                      </c:pt>
                      <c:pt idx="4">
                        <c:v>999.995</c:v>
                      </c:pt>
                      <c:pt idx="5">
                        <c:v>941.221</c:v>
                      </c:pt>
                      <c:pt idx="6">
                        <c:v>200.2</c:v>
                      </c:pt>
                      <c:pt idx="7">
                        <c:v>1994.835</c:v>
                      </c:pt>
                      <c:pt idx="8">
                        <c:v>847.27700000000004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6D3-435A-8525-D7373DD87AA2}"/>
                  </c:ext>
                </c:extLst>
              </c15:ser>
            </c15:filteredBarSeries>
          </c:ext>
        </c:extLst>
      </c:barChart>
      <c:catAx>
        <c:axId val="700633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zh-CN"/>
          </a:p>
        </c:txPr>
        <c:crossAx val="700633504"/>
        <c:crosses val="autoZero"/>
        <c:auto val="1"/>
        <c:lblAlgn val="ctr"/>
        <c:lblOffset val="100"/>
        <c:noMultiLvlLbl val="0"/>
      </c:catAx>
      <c:valAx>
        <c:axId val="70063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zh-CN"/>
          </a:p>
        </c:txPr>
        <c:crossAx val="700633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626309072541261"/>
          <c:y val="6.1192316943270458E-2"/>
          <c:w val="0.39296799834557855"/>
          <c:h val="5.58527707621453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100"/>
              <a:t>VPN</a:t>
            </a:r>
            <a:r>
              <a:rPr lang="zh-CN" altLang="en-US" sz="1100"/>
              <a:t>性能 </a:t>
            </a:r>
            <a:r>
              <a:rPr lang="en-US" altLang="zh-CN" sz="1100"/>
              <a:t>/ Mbps</a:t>
            </a:r>
            <a:endParaRPr lang="zh-CN" altLang="en-US" sz="1100"/>
          </a:p>
        </c:rich>
      </c:tx>
      <c:layout>
        <c:manualLayout>
          <c:xMode val="edge"/>
          <c:yMode val="edge"/>
          <c:x val="0.35043605742873535"/>
          <c:y val="1.165385544539249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Sheet1!$C$2</c:f>
              <c:strCache>
                <c:ptCount val="1"/>
                <c:pt idx="0">
                  <c:v>ER7206 (TL-ER7206)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0929164968193637E-3"/>
                  <c:y val="1.8296165944784434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mtClean="0"/>
                      <a:t>278.9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B0A-40A2-B225-8913CC3567CD}"/>
                </c:ext>
              </c:extLst>
            </c:dLbl>
            <c:dLbl>
              <c:idx val="1"/>
              <c:layout>
                <c:manualLayout>
                  <c:x val="-4.0619443312128597E-3"/>
                  <c:y val="2.2870207430980595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mtClean="0"/>
                      <a:t>291.6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0A-40A2-B225-8913CC3567CD}"/>
                </c:ext>
              </c:extLst>
            </c:dLbl>
            <c:dLbl>
              <c:idx val="2"/>
              <c:layout>
                <c:manualLayout>
                  <c:x val="-6.0929164968194383E-3"/>
                  <c:y val="2.7444248917176672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mtClean="0"/>
                      <a:t>202.3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0A-40A2-B225-8913CC3567CD}"/>
                </c:ext>
              </c:extLst>
            </c:dLbl>
            <c:dLbl>
              <c:idx val="3"/>
              <c:layout>
                <c:manualLayout>
                  <c:x val="-8.1238886624257194E-3"/>
                  <c:y val="2.7444248917176714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dirty="0" smtClean="0"/>
                      <a:t>115.6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0A-40A2-B225-8913CC3567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Sheet1!$A$3:$B$8</c:f>
              <c:multiLvlStrCache>
                <c:ptCount val="4"/>
                <c:lvl>
                  <c:pt idx="0">
                    <c:v>esp-md5-aes256</c:v>
                  </c:pt>
                  <c:pt idx="1">
                    <c:v>esp-sha1-aes256</c:v>
                  </c:pt>
                  <c:pt idx="2">
                    <c:v>Encrypted</c:v>
                  </c:pt>
                  <c:pt idx="3">
                    <c:v>Encrypted</c:v>
                  </c:pt>
                </c:lvl>
                <c:lvl>
                  <c:pt idx="2">
                    <c:v>L2TP</c:v>
                  </c:pt>
                  <c:pt idx="3">
                    <c:v>PPTP</c:v>
                  </c:pt>
                </c:lvl>
              </c:multiLvlStrCache>
              <c:extLst/>
            </c:multiLvlStrRef>
          </c:cat>
          <c:val>
            <c:numRef>
              <c:f>Sheet1!$C$3:$C$8</c:f>
              <c:numCache>
                <c:formatCode>General</c:formatCode>
                <c:ptCount val="4"/>
                <c:pt idx="0">
                  <c:v>278.87900000000002</c:v>
                </c:pt>
                <c:pt idx="1">
                  <c:v>291.56799999999998</c:v>
                </c:pt>
                <c:pt idx="2">
                  <c:v>202.286</c:v>
                </c:pt>
                <c:pt idx="3">
                  <c:v>115.63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1B0A-40A2-B225-8913CC3567CD}"/>
            </c:ext>
          </c:extLst>
        </c:ser>
        <c:ser>
          <c:idx val="2"/>
          <c:order val="2"/>
          <c:tx>
            <c:strRef>
              <c:f>Sheet1!$E$2</c:f>
              <c:strCache>
                <c:ptCount val="1"/>
                <c:pt idx="0">
                  <c:v>USG</c:v>
                </c:pt>
              </c:strCache>
            </c:strRef>
          </c:tx>
          <c:spPr>
            <a:solidFill>
              <a:srgbClr val="00556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09291649681929E-3"/>
                  <c:y val="1.8296165944784476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dirty="0" smtClean="0"/>
                      <a:t>47.3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0A-40A2-B225-8913CC3567CD}"/>
                </c:ext>
              </c:extLst>
            </c:dLbl>
            <c:dLbl>
              <c:idx val="1"/>
              <c:layout>
                <c:manualLayout>
                  <c:x val="2.0309721656064299E-3"/>
                  <c:y val="2.7444248917176631E-2"/>
                </c:manualLayout>
              </c:layout>
              <c:tx>
                <c:rich>
                  <a:bodyPr/>
                  <a:lstStyle/>
                  <a:p>
                    <a:r>
                      <a:rPr lang="en-US" altLang="zh-CN" smtClean="0"/>
                      <a:t>45.2</a:t>
                    </a:r>
                    <a:endParaRPr lang="en-US" altLang="zh-CN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B0A-40A2-B225-8913CC3567C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B0A-40A2-B225-8913CC3567C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B0A-40A2-B225-8913CC3567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Sheet1!$A$3:$B$8</c:f>
              <c:multiLvlStrCache>
                <c:ptCount val="4"/>
                <c:lvl>
                  <c:pt idx="0">
                    <c:v>esp-md5-aes256</c:v>
                  </c:pt>
                  <c:pt idx="1">
                    <c:v>esp-sha1-aes256</c:v>
                  </c:pt>
                  <c:pt idx="2">
                    <c:v>Encrypted</c:v>
                  </c:pt>
                  <c:pt idx="3">
                    <c:v>Encrypted</c:v>
                  </c:pt>
                </c:lvl>
                <c:lvl>
                  <c:pt idx="2">
                    <c:v>L2TP</c:v>
                  </c:pt>
                  <c:pt idx="3">
                    <c:v>PPTP</c:v>
                  </c:pt>
                </c:lvl>
              </c:multiLvlStrCache>
              <c:extLst/>
            </c:multiLvlStrRef>
          </c:cat>
          <c:val>
            <c:numRef>
              <c:f>Sheet1!$E$3:$E$8</c:f>
              <c:numCache>
                <c:formatCode>General</c:formatCode>
                <c:ptCount val="4"/>
                <c:pt idx="0">
                  <c:v>47.268999999999998</c:v>
                </c:pt>
                <c:pt idx="1">
                  <c:v>45.168999999999997</c:v>
                </c:pt>
                <c:pt idx="2">
                  <c:v>0</c:v>
                </c:pt>
                <c:pt idx="3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9-1B0A-40A2-B225-8913CC3567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00642128"/>
        <c:axId val="700647224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Sheet1!$D$2</c15:sqref>
                        </c15:formulaRef>
                      </c:ext>
                    </c:extLst>
                    <c:strCache>
                      <c:ptCount val="1"/>
                      <c:pt idx="0">
                        <c:v>ER6120</c:v>
                      </c:pt>
                    </c:strCache>
                  </c:strRef>
                </c:tx>
                <c:spPr>
                  <a:solidFill>
                    <a:srgbClr val="00A3DF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-7.4468119143502135E-17"/>
                        <c:y val="2.2870207430980553E-2"/>
                      </c:manualLayout>
                    </c:layout>
                    <c:tx>
                      <c:rich>
                        <a:bodyPr/>
                        <a:lstStyle/>
                        <a:p>
                          <a:r>
                            <a:rPr lang="en-US" altLang="zh-CN" smtClean="0"/>
                            <a:t>343.5</a:t>
                          </a:r>
                          <a:endParaRPr lang="en-US" altLang="zh-CN" dirty="0"/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A-1B0A-40A2-B225-8913CC3567CD}"/>
                      </c:ext>
                    </c:extLst>
                  </c:dLbl>
                  <c:dLbl>
                    <c:idx val="1"/>
                    <c:layout>
                      <c:manualLayout>
                        <c:x val="0"/>
                        <c:y val="2.7444248917176714E-2"/>
                      </c:manualLayout>
                    </c:layout>
                    <c:tx>
                      <c:rich>
                        <a:bodyPr/>
                        <a:lstStyle/>
                        <a:p>
                          <a:r>
                            <a:rPr lang="en-US" altLang="zh-CN" dirty="0" smtClean="0"/>
                            <a:t>362.3</a:t>
                          </a:r>
                          <a:endParaRPr lang="en-US" altLang="zh-CN" dirty="0"/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1B0A-40A2-B225-8913CC3567CD}"/>
                      </c:ext>
                    </c:extLst>
                  </c:dLbl>
                  <c:dLbl>
                    <c:idx val="2"/>
                    <c:layout>
                      <c:manualLayout>
                        <c:x val="4.0619443312128597E-3"/>
                        <c:y val="1.3722124458588315E-2"/>
                      </c:manualLayout>
                    </c:layout>
                    <c:tx>
                      <c:rich>
                        <a:bodyPr/>
                        <a:lstStyle/>
                        <a:p>
                          <a:r>
                            <a:rPr lang="en-US" altLang="zh-CN" smtClean="0"/>
                            <a:t>225.6</a:t>
                          </a:r>
                          <a:endParaRPr lang="en-US" altLang="zh-CN" dirty="0"/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1B0A-40A2-B225-8913CC3567CD}"/>
                      </c:ext>
                    </c:extLst>
                  </c:dLbl>
                  <c:dLbl>
                    <c:idx val="3"/>
                    <c:layout>
                      <c:manualLayout>
                        <c:x val="6.09291649681929E-3"/>
                        <c:y val="1.8296165944784476E-2"/>
                      </c:manualLayout>
                    </c:layout>
                    <c:tx>
                      <c:rich>
                        <a:bodyPr/>
                        <a:lstStyle/>
                        <a:p>
                          <a:r>
                            <a:rPr lang="en-US" altLang="zh-CN" smtClean="0"/>
                            <a:t>122.1</a:t>
                          </a:r>
                          <a:endParaRPr lang="en-US" altLang="zh-CN" dirty="0"/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1B0A-40A2-B225-8913CC3567CD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zh-CN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Sheet1!$A$3:$B$8</c15:sqref>
                        </c15:formulaRef>
                      </c:ext>
                    </c:extLst>
                    <c:multiLvlStrCache>
                      <c:ptCount val="4"/>
                      <c:lvl>
                        <c:pt idx="0">
                          <c:v>esp-md5-aes256</c:v>
                        </c:pt>
                        <c:pt idx="1">
                          <c:v>esp-sha1-aes256</c:v>
                        </c:pt>
                        <c:pt idx="2">
                          <c:v>Encrypted</c:v>
                        </c:pt>
                        <c:pt idx="3">
                          <c:v>Encrypted</c:v>
                        </c:pt>
                      </c:lvl>
                      <c:lvl>
                        <c:pt idx="2">
                          <c:v>L2TP</c:v>
                        </c:pt>
                        <c:pt idx="3">
                          <c:v>PPTP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Sheet1!$D$3:$D$8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343.49299999999999</c:v>
                      </c:pt>
                      <c:pt idx="1">
                        <c:v>362.25599999999997</c:v>
                      </c:pt>
                      <c:pt idx="2">
                        <c:v>225.61699999999999</c:v>
                      </c:pt>
                      <c:pt idx="3">
                        <c:v>122.139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E-1B0A-40A2-B225-8913CC3567CD}"/>
                  </c:ext>
                </c:extLst>
              </c15:ser>
            </c15:filteredBarSeries>
          </c:ext>
        </c:extLst>
      </c:barChart>
      <c:catAx>
        <c:axId val="70064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0647224"/>
        <c:crosses val="autoZero"/>
        <c:auto val="1"/>
        <c:lblAlgn val="ctr"/>
        <c:lblOffset val="100"/>
        <c:noMultiLvlLbl val="0"/>
      </c:catAx>
      <c:valAx>
        <c:axId val="700647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00642128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3802361813948371"/>
          <c:y val="9.2892659851945114E-2"/>
          <c:w val="0.53245598887534107"/>
          <c:h val="7.7187490320679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7A8230-6016-4ED4-A0AF-2A150E01635E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4AC88-B0F3-4232-84F4-6989C7E76D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0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C4AC88-B0F3-4232-84F4-6989C7E76DC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68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6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2436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7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7976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7199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11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4479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7835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14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615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15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330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16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233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17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4797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18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657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19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262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2938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21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618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24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2237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27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576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28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1641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29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887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30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682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32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0038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33</a:t>
            </a:fld>
            <a:endParaRPr kumimoji="1"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7735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6320"/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36</a:t>
            </a:fld>
            <a:endParaRPr kumimoji="1"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771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6320"/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38</a:t>
            </a:fld>
            <a:endParaRPr kumimoji="1"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5231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6320"/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D41AFB-2BDF-094F-970F-3052118EB08C}" type="slidenum">
              <a:rPr kumimoji="1" lang="zh-CN" altLang="en-US" smtClean="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pPr/>
              <a:t>39</a:t>
            </a:fld>
            <a:endParaRPr kumimoji="1"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327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13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5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60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9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31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5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25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030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19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35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02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22101" y="6565054"/>
            <a:ext cx="469900" cy="139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36" y="6406303"/>
            <a:ext cx="780651" cy="3002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300039" y="251836"/>
            <a:ext cx="301957" cy="3019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93791" y="6584104"/>
            <a:ext cx="4178300" cy="101600"/>
          </a:xfrm>
          <a:prstGeom prst="rect">
            <a:avLst/>
          </a:prstGeom>
        </p:spPr>
      </p:pic>
      <p:sp>
        <p:nvSpPr>
          <p:cNvPr id="11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>
            <a:lvl1pPr>
              <a:defRPr sz="10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45E168-1219-CD4A-80ED-4291B526AB8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77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521202"/>
            <a:ext cx="12192000" cy="23367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08320" y="6065234"/>
            <a:ext cx="975360" cy="36905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87700" y="2788955"/>
            <a:ext cx="5816600" cy="568891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3472815" y="3357880"/>
            <a:ext cx="5247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564"/>
                </a:solidFill>
              </a:rPr>
              <a:t>©2020 TP-Link, Inc. Confidential Information. Not for distribution or reproduction.</a:t>
            </a:r>
          </a:p>
        </p:txBody>
      </p:sp>
    </p:spTree>
    <p:extLst>
      <p:ext uri="{BB962C8B-B14F-4D97-AF65-F5344CB8AC3E}">
        <p14:creationId xmlns:p14="http://schemas.microsoft.com/office/powerpoint/2010/main" val="3676922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33133" y="5785413"/>
            <a:ext cx="1125523" cy="424192"/>
          </a:xfrm>
          <a:prstGeom prst="rect">
            <a:avLst/>
          </a:prstGeom>
        </p:spPr>
      </p:pic>
      <p:sp>
        <p:nvSpPr>
          <p:cNvPr id="5" name="标题 4"/>
          <p:cNvSpPr txBox="1"/>
          <p:nvPr userDrawn="1"/>
        </p:nvSpPr>
        <p:spPr>
          <a:xfrm>
            <a:off x="3598928" y="1573161"/>
            <a:ext cx="5007169" cy="28006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6000" dirty="0"/>
              <a:t/>
            </a:r>
            <a:br>
              <a:rPr kumimoji="1" lang="zh-CN" altLang="en-US" sz="6000" dirty="0"/>
            </a:br>
            <a:endParaRPr kumimoji="1" lang="zh-CN" altLang="en-US" sz="6000" dirty="0"/>
          </a:p>
        </p:txBody>
      </p:sp>
      <p:sp>
        <p:nvSpPr>
          <p:cNvPr id="11" name="标题 11"/>
          <p:cNvSpPr>
            <a:spLocks noGrp="1"/>
          </p:cNvSpPr>
          <p:nvPr>
            <p:ph type="title" hasCustomPrompt="1"/>
          </p:nvPr>
        </p:nvSpPr>
        <p:spPr>
          <a:xfrm>
            <a:off x="3449901" y="1851073"/>
            <a:ext cx="5313668" cy="1325563"/>
          </a:xfrm>
        </p:spPr>
        <p:txBody>
          <a:bodyPr>
            <a:noAutofit/>
          </a:bodyPr>
          <a:lstStyle>
            <a:lvl1pPr algn="ctr">
              <a:defRPr sz="6000" b="1" baseline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Corporate</a:t>
            </a:r>
            <a:br>
              <a:rPr kumimoji="1" lang="en-US" altLang="zh-CN" dirty="0"/>
            </a:br>
            <a:r>
              <a:rPr kumimoji="1" lang="en-US" altLang="zh-CN" dirty="0"/>
              <a:t>Presentation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63939" y="3551243"/>
            <a:ext cx="5092700" cy="127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204" y="1"/>
            <a:ext cx="12197203" cy="544830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3516564" y="3454548"/>
            <a:ext cx="59736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©</a:t>
            </a:r>
            <a:r>
              <a:rPr lang="en-US" altLang="zh-CN" sz="1200" dirty="0" smtClean="0">
                <a:solidFill>
                  <a:schemeClr val="bg1"/>
                </a:solidFill>
              </a:rPr>
              <a:t>2021 </a:t>
            </a:r>
            <a:r>
              <a:rPr lang="en-US" altLang="zh-CN" sz="1200" dirty="0">
                <a:solidFill>
                  <a:schemeClr val="bg1"/>
                </a:solidFill>
              </a:rPr>
              <a:t>TP-Link, Inc. Confidential Information. Not for distribution or reproduction.</a:t>
            </a:r>
          </a:p>
        </p:txBody>
      </p:sp>
    </p:spTree>
    <p:extLst>
      <p:ext uri="{BB962C8B-B14F-4D97-AF65-F5344CB8AC3E}">
        <p14:creationId xmlns:p14="http://schemas.microsoft.com/office/powerpoint/2010/main" val="82948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大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036" y="6406303"/>
            <a:ext cx="780651" cy="30025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2101" y="6565054"/>
            <a:ext cx="469900" cy="139700"/>
          </a:xfrm>
          <a:prstGeom prst="rect">
            <a:avLst/>
          </a:prstGeom>
        </p:spPr>
      </p:pic>
      <p:sp>
        <p:nvSpPr>
          <p:cNvPr id="21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>
            <a:lvl1pPr>
              <a:defRPr sz="10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45E168-1219-CD4A-80ED-4291B526AB8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4" name="标题 1"/>
          <p:cNvSpPr>
            <a:spLocks noGrp="1"/>
          </p:cNvSpPr>
          <p:nvPr>
            <p:ph type="title" hasCustomPrompt="1"/>
          </p:nvPr>
        </p:nvSpPr>
        <p:spPr>
          <a:xfrm>
            <a:off x="944461" y="2782197"/>
            <a:ext cx="10515600" cy="208422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1" i="0">
                <a:solidFill>
                  <a:srgbClr val="0055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</a:t>
            </a:r>
            <a:br>
              <a:rPr kumimoji="1" lang="en-US" altLang="zh-CN" dirty="0"/>
            </a:br>
            <a:r>
              <a:rPr kumimoji="1" lang="en-US" altLang="zh-CN" dirty="0"/>
              <a:t>Headline</a:t>
            </a:r>
            <a:br>
              <a:rPr kumimoji="1" lang="en-US" altLang="zh-CN" dirty="0"/>
            </a:br>
            <a:r>
              <a:rPr kumimoji="1" lang="en-US" altLang="zh-CN" dirty="0"/>
              <a:t>Divided or Key Word</a:t>
            </a:r>
            <a:endParaRPr kumimoji="1"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31AD375-E8BF-4CB0-B0AE-5057B7D1BC0B}"/>
              </a:ext>
            </a:extLst>
          </p:cNvPr>
          <p:cNvSpPr txBox="1">
            <a:spLocks/>
          </p:cNvSpPr>
          <p:nvPr userDrawn="1"/>
        </p:nvSpPr>
        <p:spPr>
          <a:xfrm>
            <a:off x="7299333" y="6474271"/>
            <a:ext cx="4504376" cy="298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>
                <a:solidFill>
                  <a:srgbClr val="0055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kumimoji="1" lang="en-US" altLang="zh-CN" sz="900" b="0" dirty="0">
                <a:solidFill>
                  <a:schemeClr val="bg1">
                    <a:lumMod val="75000"/>
                  </a:schemeClr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rPr>
              <a:t>© 2021 TP-Link, Inc Confidential information. Not for distribution or reproduction.</a:t>
            </a:r>
            <a:endParaRPr kumimoji="1" lang="zh-CN" altLang="en-US" sz="900" b="0" dirty="0">
              <a:solidFill>
                <a:schemeClr val="bg1">
                  <a:lumMod val="75000"/>
                </a:schemeClr>
              </a:solidFill>
              <a:latin typeface="TP-Link Aktiv" panose="020B0504020202020204" pitchFamily="34" charset="0"/>
              <a:cs typeface="TP-Link Aktiv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0974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036" y="6406303"/>
            <a:ext cx="780651" cy="30025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2101" y="6565054"/>
            <a:ext cx="469900" cy="139700"/>
          </a:xfrm>
          <a:prstGeom prst="rect">
            <a:avLst/>
          </a:prstGeom>
        </p:spPr>
      </p:pic>
      <p:sp>
        <p:nvSpPr>
          <p:cNvPr id="15" name="标题 13"/>
          <p:cNvSpPr>
            <a:spLocks noGrp="1"/>
          </p:cNvSpPr>
          <p:nvPr>
            <p:ph type="title" hasCustomPrompt="1"/>
          </p:nvPr>
        </p:nvSpPr>
        <p:spPr>
          <a:xfrm>
            <a:off x="978728" y="426084"/>
            <a:ext cx="10913234" cy="373579"/>
          </a:xfrm>
        </p:spPr>
        <p:txBody>
          <a:bodyPr anchor="t">
            <a:noAutofit/>
          </a:bodyPr>
          <a:lstStyle>
            <a:lvl1pPr>
              <a:lnSpc>
                <a:spcPct val="110000"/>
              </a:lnSpc>
              <a:defRPr sz="2000" b="1" i="0" baseline="0">
                <a:solidFill>
                  <a:srgbClr val="005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Edit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Headline</a:t>
            </a:r>
            <a:endParaRPr kumimoji="1"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4" hasCustomPrompt="1"/>
          </p:nvPr>
        </p:nvSpPr>
        <p:spPr>
          <a:xfrm>
            <a:off x="978728" y="813103"/>
            <a:ext cx="10913234" cy="4786632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None/>
              <a:defRPr sz="1200" b="0" i="0" baseline="0">
                <a:solidFill>
                  <a:srgbClr val="005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Text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goes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here.</a:t>
            </a:r>
            <a:r>
              <a:rPr kumimoji="1" lang="zh-CN" altLang="en-US" dirty="0"/>
              <a:t> </a:t>
            </a:r>
            <a:r>
              <a:rPr kumimoji="1" lang="en-US" altLang="zh-CN" dirty="0"/>
              <a:t>Arial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12.</a:t>
            </a:r>
            <a:endParaRPr kumimoji="1"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16200000">
            <a:off x="300039" y="251836"/>
            <a:ext cx="301957" cy="301957"/>
          </a:xfrm>
          <a:prstGeom prst="rect">
            <a:avLst/>
          </a:prstGeom>
        </p:spPr>
      </p:pic>
      <p:sp>
        <p:nvSpPr>
          <p:cNvPr id="17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>
            <a:lvl1pPr>
              <a:defRPr sz="1000">
                <a:solidFill>
                  <a:srgbClr val="FDFDF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45E168-1219-CD4A-80ED-4291B526AB8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93791" y="6584104"/>
            <a:ext cx="4178300" cy="1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3B53A-4DB8-4802-B247-F01D22C291CF}" type="datetimeFigureOut">
              <a:rPr lang="zh-CN" altLang="en-US" smtClean="0"/>
              <a:t>2024/2/5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C0FA9-C895-460B-AE32-BE81393917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4" r:id="rId13"/>
    <p:sldLayoutId id="2147483665" r:id="rId14"/>
    <p:sldLayoutId id="2147483666" r:id="rId15"/>
    <p:sldLayoutId id="2147483667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028537" y="1505078"/>
            <a:ext cx="8147558" cy="1718539"/>
          </a:xfrm>
        </p:spPr>
        <p:txBody>
          <a:bodyPr/>
          <a:lstStyle/>
          <a:p>
            <a:r>
              <a:rPr lang="en-US" altLang="zh-CN" sz="4800" dirty="0" smtClean="0">
                <a:solidFill>
                  <a:srgbClr val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Switch </a:t>
            </a:r>
            <a:r>
              <a:rPr lang="zh-CN" altLang="en-US" sz="4800" dirty="0" smtClean="0">
                <a:solidFill>
                  <a:srgbClr val="FFFFF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竞品对比</a:t>
            </a:r>
            <a:endParaRPr kumimoji="1" lang="zh-CN" altLang="en-US" sz="4800" dirty="0">
              <a:solidFill>
                <a:srgbClr val="FFFFFF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10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977060"/>
              </p:ext>
            </p:extLst>
          </p:nvPr>
        </p:nvGraphicFramePr>
        <p:xfrm>
          <a:off x="186611" y="564237"/>
          <a:ext cx="11933856" cy="6453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1">
                  <a:extLst>
                    <a:ext uri="{9D8B030D-6E8A-4147-A177-3AD203B41FA5}">
                      <a16:colId xmlns:a16="http://schemas.microsoft.com/office/drawing/2014/main" val="2307518723"/>
                    </a:ext>
                  </a:extLst>
                </a:gridCol>
                <a:gridCol w="1290951">
                  <a:extLst>
                    <a:ext uri="{9D8B030D-6E8A-4147-A177-3AD203B41FA5}">
                      <a16:colId xmlns:a16="http://schemas.microsoft.com/office/drawing/2014/main" val="1674969506"/>
                    </a:ext>
                  </a:extLst>
                </a:gridCol>
                <a:gridCol w="1399077">
                  <a:extLst>
                    <a:ext uri="{9D8B030D-6E8A-4147-A177-3AD203B41FA5}">
                      <a16:colId xmlns:a16="http://schemas.microsoft.com/office/drawing/2014/main" val="1261617657"/>
                    </a:ext>
                  </a:extLst>
                </a:gridCol>
                <a:gridCol w="1638450">
                  <a:extLst>
                    <a:ext uri="{9D8B030D-6E8A-4147-A177-3AD203B41FA5}">
                      <a16:colId xmlns:a16="http://schemas.microsoft.com/office/drawing/2014/main" val="1177995582"/>
                    </a:ext>
                  </a:extLst>
                </a:gridCol>
                <a:gridCol w="1638450">
                  <a:extLst>
                    <a:ext uri="{9D8B030D-6E8A-4147-A177-3AD203B41FA5}">
                      <a16:colId xmlns:a16="http://schemas.microsoft.com/office/drawing/2014/main" val="3904712606"/>
                    </a:ext>
                  </a:extLst>
                </a:gridCol>
                <a:gridCol w="1638450">
                  <a:extLst>
                    <a:ext uri="{9D8B030D-6E8A-4147-A177-3AD203B41FA5}">
                      <a16:colId xmlns:a16="http://schemas.microsoft.com/office/drawing/2014/main" val="4214870182"/>
                    </a:ext>
                  </a:extLst>
                </a:gridCol>
                <a:gridCol w="1638450">
                  <a:extLst>
                    <a:ext uri="{9D8B030D-6E8A-4147-A177-3AD203B41FA5}">
                      <a16:colId xmlns:a16="http://schemas.microsoft.com/office/drawing/2014/main" val="1483838293"/>
                    </a:ext>
                  </a:extLst>
                </a:gridCol>
                <a:gridCol w="1399077">
                  <a:extLst>
                    <a:ext uri="{9D8B030D-6E8A-4147-A177-3AD203B41FA5}">
                      <a16:colId xmlns:a16="http://schemas.microsoft.com/office/drawing/2014/main" val="287942010"/>
                    </a:ext>
                  </a:extLst>
                </a:gridCol>
              </a:tblGrid>
              <a:tr h="537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Vendor &amp; Model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TP-Link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SG6654XHP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D-Link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DGS-3130-54PS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Cisco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CBS350-48FP-4X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NetGear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M5300-52G-POE+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Ruijie Reyee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RGNBS5200-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48GT4XSUP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Aruba 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Instant On 1960 48G 40p Class4 8p Class6 PoE 2XGT 2SFP+ 600W Switch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RUCKUS 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ICX7150-48P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9498545"/>
                  </a:ext>
                </a:extLst>
              </a:tr>
              <a:tr h="537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6*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10G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44* GE RJ45, 4* GE RJ45/SFP Combo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10G RJ45/SFP+ Combo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1 expansion slot (max 2* 10G SFP+</a:t>
                      </a:r>
                      <a:r>
                        <a:rPr lang="zh-CN" sz="8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10G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50*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32211293"/>
                  </a:ext>
                </a:extLst>
              </a:tr>
              <a:tr h="406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PoE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PoE+, max PoE Budget 1440W, by default is 764W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PoE+, max PoE Budget 740W, by default is 370W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PoE+, max and default PoE Budget is 740W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PoE+, max PoE Budget 1440W, by default is 380W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40* GE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+, 8* GE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++, max and default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 Budget is 740W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40* GE PoE+ &amp; 8* GE PoE++, max and default PoE Budget is 600W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48* GE PoE+, max and default PoE Budget is 370W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8569566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Console Port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 + 1* USB Type-C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RS232 + 2* Mini-USB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 + 1* USB Type-C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8866220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Management Port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61380354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USB 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6893169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Packet Buffer Memory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1.5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2493267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MAC Address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868974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Flash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MB Nor + 8 GB EMMC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512MB NAND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GB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3971516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DRAM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GB DDR4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1GB DDR3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 GB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8761362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CPU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Dual-core @1.5GHz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800 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800 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Single-Core @800MHz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8410350"/>
                  </a:ext>
                </a:extLst>
              </a:tr>
              <a:tr h="406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Redundant Power Supply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hot swappable power supply module, shipping with a PSM900-AC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Need external PSU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Need external PSU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6212278"/>
                  </a:ext>
                </a:extLst>
              </a:tr>
              <a:tr h="406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hot swappable fan modules,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N+1 redundant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Fixed Fan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7556339"/>
                  </a:ext>
                </a:extLst>
              </a:tr>
              <a:tr h="2716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Stacking 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 (the uplink ports can also use as stacking ports)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(the uplink ports can also use as stacking ports)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(the uplink ports can also use as stacking ports)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0236749"/>
                  </a:ext>
                </a:extLst>
              </a:tr>
              <a:tr h="4061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Stacking Number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units per stack (Will support to 8 by FW upgrade at end of 24.Q1)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9370578"/>
                  </a:ext>
                </a:extLst>
              </a:tr>
              <a:tr h="137228">
                <a:tc rowSpan="9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31" marR="3031" marT="3031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2594011"/>
                  </a:ext>
                </a:extLst>
              </a:tr>
              <a:tr h="1372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64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64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4317150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static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static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96283526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4K MLD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MLD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3114822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2932675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505299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8K IPv6 ND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IPv6 ND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4608169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-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7797167"/>
                  </a:ext>
                </a:extLst>
              </a:tr>
              <a:tr h="13742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1024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990 static routes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1024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N/A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1104191"/>
                  </a:ext>
                </a:extLst>
              </a:tr>
              <a:tr h="2718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L3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PBR,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PBR, RIP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ECMP (OSPF, PBR with license)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1833456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VRRP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 (with license)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6107111"/>
                  </a:ext>
                </a:extLst>
              </a:tr>
              <a:tr h="4063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Multicast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PIM-DM (Will support PIM-SM by FW upgrade at end of 24.Q1)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PIM-SM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PIM-SM, PIM-DM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PIM-SM, PIM-SSM, PIM-DM (with license)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9289796"/>
                  </a:ext>
                </a:extLst>
              </a:tr>
              <a:tr h="137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ERPS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23328095"/>
                  </a:ext>
                </a:extLst>
              </a:tr>
            </a:tbl>
          </a:graphicData>
        </a:graphic>
      </p:graphicFrame>
      <p:sp>
        <p:nvSpPr>
          <p:cNvPr id="3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(48 port L3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SG6654XHP)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36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253672"/>
              </p:ext>
            </p:extLst>
          </p:nvPr>
        </p:nvGraphicFramePr>
        <p:xfrm>
          <a:off x="46652" y="531843"/>
          <a:ext cx="12126686" cy="63851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809">
                  <a:extLst>
                    <a:ext uri="{9D8B030D-6E8A-4147-A177-3AD203B41FA5}">
                      <a16:colId xmlns:a16="http://schemas.microsoft.com/office/drawing/2014/main" val="3635289230"/>
                    </a:ext>
                  </a:extLst>
                </a:gridCol>
                <a:gridCol w="1311809">
                  <a:extLst>
                    <a:ext uri="{9D8B030D-6E8A-4147-A177-3AD203B41FA5}">
                      <a16:colId xmlns:a16="http://schemas.microsoft.com/office/drawing/2014/main" val="4028423193"/>
                    </a:ext>
                  </a:extLst>
                </a:gridCol>
                <a:gridCol w="1421684">
                  <a:extLst>
                    <a:ext uri="{9D8B030D-6E8A-4147-A177-3AD203B41FA5}">
                      <a16:colId xmlns:a16="http://schemas.microsoft.com/office/drawing/2014/main" val="3711789581"/>
                    </a:ext>
                  </a:extLst>
                </a:gridCol>
                <a:gridCol w="1664925">
                  <a:extLst>
                    <a:ext uri="{9D8B030D-6E8A-4147-A177-3AD203B41FA5}">
                      <a16:colId xmlns:a16="http://schemas.microsoft.com/office/drawing/2014/main" val="1729910703"/>
                    </a:ext>
                  </a:extLst>
                </a:gridCol>
                <a:gridCol w="1664925">
                  <a:extLst>
                    <a:ext uri="{9D8B030D-6E8A-4147-A177-3AD203B41FA5}">
                      <a16:colId xmlns:a16="http://schemas.microsoft.com/office/drawing/2014/main" val="3434909508"/>
                    </a:ext>
                  </a:extLst>
                </a:gridCol>
                <a:gridCol w="1423616">
                  <a:extLst>
                    <a:ext uri="{9D8B030D-6E8A-4147-A177-3AD203B41FA5}">
                      <a16:colId xmlns:a16="http://schemas.microsoft.com/office/drawing/2014/main" val="2275364841"/>
                    </a:ext>
                  </a:extLst>
                </a:gridCol>
                <a:gridCol w="1906234">
                  <a:extLst>
                    <a:ext uri="{9D8B030D-6E8A-4147-A177-3AD203B41FA5}">
                      <a16:colId xmlns:a16="http://schemas.microsoft.com/office/drawing/2014/main" val="682080901"/>
                    </a:ext>
                  </a:extLst>
                </a:gridCol>
                <a:gridCol w="1421684">
                  <a:extLst>
                    <a:ext uri="{9D8B030D-6E8A-4147-A177-3AD203B41FA5}">
                      <a16:colId xmlns:a16="http://schemas.microsoft.com/office/drawing/2014/main" val="1740512358"/>
                    </a:ext>
                  </a:extLst>
                </a:gridCol>
              </a:tblGrid>
              <a:tr h="4175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Vendor &amp; Model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TP-Link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SG6428XHP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D-Link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 smtClean="0">
                          <a:effectLst/>
                        </a:rPr>
                        <a:t>DGS-3130-30PS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Cisco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CBS350-24FP-4X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NetGear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M5300-28G-POE+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Ruijie Reyee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RGNBS5200-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24GT4XS-P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Aruba 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Instant On 1960 24G 20p Class4 4p Class6 PoE 2XGT 2SFP+ 370W Switch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RUCKUS 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ICX 7150-24P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55125472"/>
                  </a:ext>
                </a:extLst>
              </a:tr>
              <a:tr h="557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RJ45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>
                          <a:effectLst/>
                        </a:rPr>
                        <a:t>4* 10G SFP+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RJ45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>
                          <a:effectLst/>
                        </a:rPr>
                        <a:t>2* 10G RJ45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>
                          <a:effectLst/>
                        </a:rPr>
                        <a:t>4* 10G SFP+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RJ45</a:t>
                      </a:r>
                      <a:br>
                        <a:rPr lang="en-US" sz="800" dirty="0">
                          <a:effectLst/>
                        </a:rPr>
                      </a:br>
                      <a:r>
                        <a:rPr lang="en-US" sz="800" dirty="0">
                          <a:effectLst/>
                        </a:rPr>
                        <a:t>4* 10G SFP+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20* GE RJ45, 4* GE RJ45/SFP Combo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2* 10G RJ45/SFP+ Combo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1 expansion slot (max 2* 10G SFP+</a:t>
                      </a:r>
                      <a:r>
                        <a:rPr lang="zh-CN" sz="8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24*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24*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2* 10G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2*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26* GE RJ45</a:t>
                      </a:r>
                      <a:br>
                        <a:rPr lang="en-US" sz="800">
                          <a:effectLst/>
                        </a:rPr>
                      </a:br>
                      <a:r>
                        <a:rPr lang="en-US" sz="800">
                          <a:effectLst/>
                        </a:rPr>
                        <a:t>4* 10G SFP+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5279237"/>
                  </a:ext>
                </a:extLst>
              </a:tr>
              <a:tr h="4206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PoE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24* GE PoE+, max PoE Budget 720W, by default is 402W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24* GE PoE+, max PoE Budget 720W, by default is 370W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+, max and default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 Budget is 370W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+, max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 Budget 720W, by default is 380W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24* GE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+, max and default </a:t>
                      </a:r>
                      <a:r>
                        <a:rPr lang="en-US" sz="800" dirty="0" err="1">
                          <a:effectLst/>
                        </a:rPr>
                        <a:t>PoE</a:t>
                      </a:r>
                      <a:r>
                        <a:rPr lang="en-US" sz="800" dirty="0">
                          <a:effectLst/>
                        </a:rPr>
                        <a:t> Budget is 370W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20* GE PoE+ &amp; 4* GE PoE++, max and default PoE Budget is 370W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12* GE PoE &amp; 12* GE PoE+, max and default PoE Budget is 370W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0175900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Console Port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 + 1* USB Type-C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1* RS232 + </a:t>
                      </a:r>
                      <a:r>
                        <a:rPr lang="en-US" sz="800" dirty="0" smtClean="0">
                          <a:effectLst/>
                        </a:rPr>
                        <a:t>1* </a:t>
                      </a:r>
                      <a:r>
                        <a:rPr lang="en-US" sz="800" dirty="0">
                          <a:effectLst/>
                        </a:rPr>
                        <a:t>Mini-USB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 + 1* USB Type-C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416460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Management Port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9538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USB 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USB2.0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5549187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Packet Buffer Memory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1.5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1.5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1.5 MB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6988500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MAC Address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16K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16K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5086924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Flash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MB Nor + 8 GB EMMC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512MB NAND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 GB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59392941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DRAM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GB DDR4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MB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1GB DDR3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 GB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91904529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CPU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Dual-core @1.5GHz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800 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800 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Single-Core @800MHz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52700638"/>
                  </a:ext>
                </a:extLst>
              </a:tr>
              <a:tr h="4204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Redundant Power Supply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hot swappable power supply module, shipping with a </a:t>
                      </a:r>
                      <a:r>
                        <a:rPr lang="en-US" sz="800" smtClean="0">
                          <a:effectLst/>
                        </a:rPr>
                        <a:t>PSM500-AC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Need external PSU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Need external PSU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1846872"/>
                  </a:ext>
                </a:extLst>
              </a:tr>
              <a:tr h="4204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hot swappable fan modules,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N+1 redundant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Fixed Fan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 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Fixed Fans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2 fixed Fans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8078037"/>
                  </a:ext>
                </a:extLst>
              </a:tr>
              <a:tr h="2785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Stacking Ports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 (the uplink ports can also use as stacking ports)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</a:rPr>
                        <a:t>4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 (the uplink ports can also use as stacking ports)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</a:rPr>
                        <a:t>4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 (the uplink ports can also use as stacking ports)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49690279"/>
                  </a:ext>
                </a:extLst>
              </a:tr>
              <a:tr h="4204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Stacking Number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units per stack (Will support to 8 by FW upgrade at end of 24.Q1)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9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units per stack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800" dirty="0" smtClean="0">
                          <a:effectLst/>
                        </a:rPr>
                        <a:t>×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 units per stack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12 units per stack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0379794"/>
                  </a:ext>
                </a:extLst>
              </a:tr>
              <a:tr h="136547">
                <a:tc rowSpan="9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031" marR="3031" marT="3031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87572172"/>
                  </a:ext>
                </a:extLst>
              </a:tr>
              <a:tr h="1365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64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264" marR="3264" marT="326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64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 groups LAG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9610421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static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static IGMP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8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4366242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4K MLD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MLD Groups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8358769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6K ARP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4K ARP Entries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7429925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256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IP interfaces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372058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8K IPv6 ND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1K IPv6 ND Entries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89626819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16K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12K hardware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6K hardware routing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0982593"/>
                  </a:ext>
                </a:extLst>
              </a:tr>
              <a:tr h="1367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1024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512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990 static routes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1024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32 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8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2465895"/>
                  </a:ext>
                </a:extLst>
              </a:tr>
              <a:tr h="2787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L3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PBR,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PBR, RIP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OSPF, ECMP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Route, RIP, OSPF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Static Route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Static Route, RIP, ECMP (OSPF, PBR with license) 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6191971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VRRP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√ (with license)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2910616"/>
                  </a:ext>
                </a:extLst>
              </a:tr>
              <a:tr h="4206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Multicast 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PIM-DM (Will support PIM-SM by FW upgrade at end of 24.Q1)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PIM-SM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PIM-SM, PIM-DM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PIM-SM, PIM-SSM, PIM-DM (with license)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92145997"/>
                  </a:ext>
                </a:extLst>
              </a:tr>
              <a:tr h="1367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ERPS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497" marR="3497" marT="349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4702637"/>
                  </a:ext>
                </a:extLst>
              </a:tr>
            </a:tbl>
          </a:graphicData>
        </a:graphic>
      </p:graphicFrame>
      <p:sp>
        <p:nvSpPr>
          <p:cNvPr id="3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(24 port L3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SG6428XHP)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39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83354" y="12829"/>
            <a:ext cx="8768556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(24 port L3 Non-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SG6428X)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07904"/>
              </p:ext>
            </p:extLst>
          </p:nvPr>
        </p:nvGraphicFramePr>
        <p:xfrm>
          <a:off x="251927" y="557938"/>
          <a:ext cx="11756572" cy="6376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1773">
                  <a:extLst>
                    <a:ext uri="{9D8B030D-6E8A-4147-A177-3AD203B41FA5}">
                      <a16:colId xmlns:a16="http://schemas.microsoft.com/office/drawing/2014/main" val="3818863078"/>
                    </a:ext>
                  </a:extLst>
                </a:gridCol>
                <a:gridCol w="1271773">
                  <a:extLst>
                    <a:ext uri="{9D8B030D-6E8A-4147-A177-3AD203B41FA5}">
                      <a16:colId xmlns:a16="http://schemas.microsoft.com/office/drawing/2014/main" val="3294091330"/>
                    </a:ext>
                  </a:extLst>
                </a:gridCol>
                <a:gridCol w="1378295">
                  <a:extLst>
                    <a:ext uri="{9D8B030D-6E8A-4147-A177-3AD203B41FA5}">
                      <a16:colId xmlns:a16="http://schemas.microsoft.com/office/drawing/2014/main" val="1562264021"/>
                    </a:ext>
                  </a:extLst>
                </a:gridCol>
                <a:gridCol w="1614109">
                  <a:extLst>
                    <a:ext uri="{9D8B030D-6E8A-4147-A177-3AD203B41FA5}">
                      <a16:colId xmlns:a16="http://schemas.microsoft.com/office/drawing/2014/main" val="3129657259"/>
                    </a:ext>
                  </a:extLst>
                </a:gridCol>
                <a:gridCol w="1614109">
                  <a:extLst>
                    <a:ext uri="{9D8B030D-6E8A-4147-A177-3AD203B41FA5}">
                      <a16:colId xmlns:a16="http://schemas.microsoft.com/office/drawing/2014/main" val="3921719953"/>
                    </a:ext>
                  </a:extLst>
                </a:gridCol>
                <a:gridCol w="1614109">
                  <a:extLst>
                    <a:ext uri="{9D8B030D-6E8A-4147-A177-3AD203B41FA5}">
                      <a16:colId xmlns:a16="http://schemas.microsoft.com/office/drawing/2014/main" val="2373644472"/>
                    </a:ext>
                  </a:extLst>
                </a:gridCol>
                <a:gridCol w="1614109">
                  <a:extLst>
                    <a:ext uri="{9D8B030D-6E8A-4147-A177-3AD203B41FA5}">
                      <a16:colId xmlns:a16="http://schemas.microsoft.com/office/drawing/2014/main" val="461411338"/>
                    </a:ext>
                  </a:extLst>
                </a:gridCol>
                <a:gridCol w="1378295">
                  <a:extLst>
                    <a:ext uri="{9D8B030D-6E8A-4147-A177-3AD203B41FA5}">
                      <a16:colId xmlns:a16="http://schemas.microsoft.com/office/drawing/2014/main" val="3099633631"/>
                    </a:ext>
                  </a:extLst>
                </a:gridCol>
              </a:tblGrid>
              <a:tr h="4373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Vendor &amp; Model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TP-Link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SG6428X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D-Link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DGS-3130-30TS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Cisco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CBS350-24T-4X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NetGear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M5300-28G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Ruijie Reyee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RGNBS5200-24GT4XS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Aruba 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Instant On 1960 24G 2XGT 2SFP+ Switch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RUCKUS 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ICX 7150-24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1884197"/>
                  </a:ext>
                </a:extLst>
              </a:tr>
              <a:tr h="583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Ports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2* 10G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20* GE RJ45, 4* GE RJ45/SFP Combo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2* 10G RJ45/SFP+ Combo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1 expansion slot (max 2* 10G SFP+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2* 10G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2*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26*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5918140"/>
                  </a:ext>
                </a:extLst>
              </a:tr>
              <a:tr h="173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Console Port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 + 1* USB Type-C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1* RS232 + </a:t>
                      </a:r>
                      <a:r>
                        <a:rPr lang="en-US" sz="900" dirty="0" smtClean="0">
                          <a:effectLst/>
                        </a:rPr>
                        <a:t>1* </a:t>
                      </a:r>
                      <a:r>
                        <a:rPr lang="en-US" sz="900" dirty="0">
                          <a:effectLst/>
                        </a:rPr>
                        <a:t>Mini-USB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 + 1* USB Type-C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59732642"/>
                  </a:ext>
                </a:extLst>
              </a:tr>
              <a:tr h="173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Management Port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21815775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USB Ports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0095266"/>
                  </a:ext>
                </a:extLst>
              </a:tr>
              <a:tr h="173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Packet Buffer Memory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1.5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1.5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1.5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2916635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MAC Address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37056148"/>
                  </a:ext>
                </a:extLst>
              </a:tr>
              <a:tr h="173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Flash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8 MB Nor + 8 GB EMMC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256 MB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128 MB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256 MB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512MB NAND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 GB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0768756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DRAM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GB DDR4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1GB DDR3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 GB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494315"/>
                  </a:ext>
                </a:extLst>
              </a:tr>
              <a:tr h="1730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CPU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Dual-core @1.5GHz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800 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800 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Single-Core @800MHz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6666149"/>
                  </a:ext>
                </a:extLst>
              </a:tr>
              <a:tr h="29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Redundant Power Supply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fixed Power Supply module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Need external PSU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Need external PSU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×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9739515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FAN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fixed Fans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fixed Fans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Fanless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Fixed Fan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 fixed Fan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Fanless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Fanless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28259384"/>
                  </a:ext>
                </a:extLst>
              </a:tr>
              <a:tr h="341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Stacking Ports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(the uplink ports can also use as stacking ports)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(the uplink ports can also use as stacking ports)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 (the uplink ports can also use as stacking ports)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6869059"/>
                  </a:ext>
                </a:extLst>
              </a:tr>
              <a:tr h="4409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Stacking Number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 (Will support to 8 by FW upgrade at end of 24.Q1)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12 units per stack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462680"/>
                  </a:ext>
                </a:extLst>
              </a:tr>
              <a:tr h="149376">
                <a:tc rowSpan="9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" marR="3600" marT="360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9245616"/>
                  </a:ext>
                </a:extLst>
              </a:tr>
              <a:tr h="14937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64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64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43559398"/>
                  </a:ext>
                </a:extLst>
              </a:tr>
              <a:tr h="1730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static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static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8463884"/>
                  </a:ext>
                </a:extLst>
              </a:tr>
              <a:tr h="1496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4K MLD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MLD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6104660"/>
                  </a:ext>
                </a:extLst>
              </a:tr>
              <a:tr h="1496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4K ARP Entries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47284542"/>
                  </a:ext>
                </a:extLst>
              </a:tr>
              <a:tr h="1496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256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06127729"/>
                  </a:ext>
                </a:extLst>
              </a:tr>
              <a:tr h="1730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8K IPv6 ND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IPv6 ND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865337"/>
                  </a:ext>
                </a:extLst>
              </a:tr>
              <a:tr h="1730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6K hardware routing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48511893"/>
                  </a:ext>
                </a:extLst>
              </a:tr>
              <a:tr h="1730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1024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990 static routes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1024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7397459"/>
                  </a:ext>
                </a:extLst>
              </a:tr>
              <a:tr h="295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L3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PBR,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PBR, RIP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Static Route, RIP, ECMP (OSPF, PBR with license) 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0141617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VRRP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√ (with license)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7906221"/>
                  </a:ext>
                </a:extLst>
              </a:tr>
              <a:tr h="4412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Multicast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PIM-DM (Will support PIM-SM by FW upgrade at end of 24.Q1)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PIM-SM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PIM-SM, PIM-DM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PIM-SM, PIM-SSM, PIM-DM (with license)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81967319"/>
                  </a:ext>
                </a:extLst>
              </a:tr>
              <a:tr h="1496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ERPS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×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86583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459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83354" y="12829"/>
            <a:ext cx="8768556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(48 port L3 Non-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SG6654X)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204956"/>
              </p:ext>
            </p:extLst>
          </p:nvPr>
        </p:nvGraphicFramePr>
        <p:xfrm>
          <a:off x="233265" y="641479"/>
          <a:ext cx="11709918" cy="62764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6727">
                  <a:extLst>
                    <a:ext uri="{9D8B030D-6E8A-4147-A177-3AD203B41FA5}">
                      <a16:colId xmlns:a16="http://schemas.microsoft.com/office/drawing/2014/main" val="2109807735"/>
                    </a:ext>
                  </a:extLst>
                </a:gridCol>
                <a:gridCol w="1266727">
                  <a:extLst>
                    <a:ext uri="{9D8B030D-6E8A-4147-A177-3AD203B41FA5}">
                      <a16:colId xmlns:a16="http://schemas.microsoft.com/office/drawing/2014/main" val="3085494851"/>
                    </a:ext>
                  </a:extLst>
                </a:gridCol>
                <a:gridCol w="1372826">
                  <a:extLst>
                    <a:ext uri="{9D8B030D-6E8A-4147-A177-3AD203B41FA5}">
                      <a16:colId xmlns:a16="http://schemas.microsoft.com/office/drawing/2014/main" val="1297265058"/>
                    </a:ext>
                  </a:extLst>
                </a:gridCol>
                <a:gridCol w="1607703">
                  <a:extLst>
                    <a:ext uri="{9D8B030D-6E8A-4147-A177-3AD203B41FA5}">
                      <a16:colId xmlns:a16="http://schemas.microsoft.com/office/drawing/2014/main" val="2775909187"/>
                    </a:ext>
                  </a:extLst>
                </a:gridCol>
                <a:gridCol w="1607703">
                  <a:extLst>
                    <a:ext uri="{9D8B030D-6E8A-4147-A177-3AD203B41FA5}">
                      <a16:colId xmlns:a16="http://schemas.microsoft.com/office/drawing/2014/main" val="1908219929"/>
                    </a:ext>
                  </a:extLst>
                </a:gridCol>
                <a:gridCol w="1607703">
                  <a:extLst>
                    <a:ext uri="{9D8B030D-6E8A-4147-A177-3AD203B41FA5}">
                      <a16:colId xmlns:a16="http://schemas.microsoft.com/office/drawing/2014/main" val="3230295545"/>
                    </a:ext>
                  </a:extLst>
                </a:gridCol>
                <a:gridCol w="1607703">
                  <a:extLst>
                    <a:ext uri="{9D8B030D-6E8A-4147-A177-3AD203B41FA5}">
                      <a16:colId xmlns:a16="http://schemas.microsoft.com/office/drawing/2014/main" val="3458796600"/>
                    </a:ext>
                  </a:extLst>
                </a:gridCol>
                <a:gridCol w="1372826">
                  <a:extLst>
                    <a:ext uri="{9D8B030D-6E8A-4147-A177-3AD203B41FA5}">
                      <a16:colId xmlns:a16="http://schemas.microsoft.com/office/drawing/2014/main" val="1102021470"/>
                    </a:ext>
                  </a:extLst>
                </a:gridCol>
              </a:tblGrid>
              <a:tr h="4255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Vendor &amp; Model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TP-Link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SG6654X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D-Link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DGS-3130-54TS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Cisco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CBS350-48T-4X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NetGear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M5300-52G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Ruijie Reyee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RGNBS5200-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48GT4XS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Aruba 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Instant On 1960 48G 2XGT 2SFP+ Switch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RUCKUS 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ICX 7150-48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8823152"/>
                  </a:ext>
                </a:extLst>
              </a:tr>
              <a:tr h="5681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Ports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6*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48* GE RJ45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10G RJ45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48* GE RJ45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44* GE RJ45, 4* GE RJ45/SFP Combo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10G RJ45/SFP+ Combo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1 expansion slot (max 2* 10G SFP+</a:t>
                      </a:r>
                      <a:r>
                        <a:rPr lang="zh-CN" sz="900">
                          <a:effectLst/>
                        </a:rPr>
                        <a:t>）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48* GE RJ45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10G RJ45</a:t>
                      </a:r>
                      <a:endParaRPr lang="zh-CN" sz="9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50* GE RJ45</a:t>
                      </a:r>
                      <a:br>
                        <a:rPr lang="en-US" sz="900">
                          <a:effectLst/>
                        </a:rPr>
                      </a:br>
                      <a:r>
                        <a:rPr lang="en-US" sz="900">
                          <a:effectLst/>
                        </a:rPr>
                        <a:t>4* 10G SFP+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7388070"/>
                  </a:ext>
                </a:extLst>
              </a:tr>
              <a:tr h="163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Console Port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 + 1* USB Type-C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RS232 + </a:t>
                      </a:r>
                      <a:r>
                        <a:rPr lang="en-US" sz="900" smtClean="0">
                          <a:effectLst/>
                        </a:rPr>
                        <a:t>1* </a:t>
                      </a:r>
                      <a:r>
                        <a:rPr lang="en-US" sz="900">
                          <a:effectLst/>
                        </a:rPr>
                        <a:t>Mini-USB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 + 1* USB Type-C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8100043"/>
                  </a:ext>
                </a:extLst>
              </a:tr>
              <a:tr h="163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Management Port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RJ45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4211043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USB Ports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1* USB2.0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1775595"/>
                  </a:ext>
                </a:extLst>
              </a:tr>
              <a:tr h="163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Packet Buffer Memory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1.5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5587440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MAC Address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16K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521935"/>
                  </a:ext>
                </a:extLst>
              </a:tr>
              <a:tr h="163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Flash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 MB Nor + 8 GB EMMC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256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256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512MB NAND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GB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04064039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DRAM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GB DDR4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MB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1GB DDR3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 GB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1342584"/>
                  </a:ext>
                </a:extLst>
              </a:tr>
              <a:tr h="163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CPU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Dual-core @1.5GHz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800 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800 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Single-Core @800MHz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32000404"/>
                  </a:ext>
                </a:extLst>
              </a:tr>
              <a:tr h="2844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Redundant Power Supply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 fixed Power Supply module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Need external PSU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×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Need external PSU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37009793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FAN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fixed Fans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 fixed Fans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 fixed Fan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Fixed Fan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 fixed Fan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Fixed Fan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Fanless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0670611"/>
                  </a:ext>
                </a:extLst>
              </a:tr>
              <a:tr h="323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Stacking Ports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6</a:t>
                      </a:r>
                      <a:r>
                        <a:rPr lang="en-US" sz="900" dirty="0" smtClean="0">
                          <a:effectLst/>
                        </a:rPr>
                        <a:t> </a:t>
                      </a:r>
                      <a:r>
                        <a:rPr lang="en-US" sz="900" dirty="0">
                          <a:effectLst/>
                        </a:rPr>
                        <a:t>(the uplink ports can also use as stacking ports)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 (the uplink ports can also use as stacking ports)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dirty="0">
                          <a:effectLst/>
                        </a:rPr>
                        <a:t>×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 (the uplink ports can also use as stacking ports)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98794599"/>
                  </a:ext>
                </a:extLst>
              </a:tr>
              <a:tr h="4290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Stacking Number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 (Will support to 8 by FW upgrade at end of 24.Q1)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 units per stack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12 units per stack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6913133"/>
                  </a:ext>
                </a:extLst>
              </a:tr>
              <a:tr h="139734">
                <a:tc rowSpan="9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" marR="3600" marT="360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0165684"/>
                  </a:ext>
                </a:extLst>
              </a:tr>
              <a:tr h="13973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64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877" marR="3877" marT="3877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64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 groups LAG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141165"/>
                  </a:ext>
                </a:extLst>
              </a:tr>
              <a:tr h="163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static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static IGMP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5469634"/>
                  </a:ext>
                </a:extLst>
              </a:tr>
              <a:tr h="139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4K MLD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MLD Groups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0614078"/>
                  </a:ext>
                </a:extLst>
              </a:tr>
              <a:tr h="139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6K ARP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4K ARP Entries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6277494"/>
                  </a:ext>
                </a:extLst>
              </a:tr>
              <a:tr h="1399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256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128 IP interfaces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21280443"/>
                  </a:ext>
                </a:extLst>
              </a:tr>
              <a:tr h="163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8K IPv6 ND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1K IPv6 ND Entries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N/A</a:t>
                      </a:r>
                      <a:endParaRPr kumimoji="0" lang="zh-CN" altLang="zh-CN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24837131"/>
                  </a:ext>
                </a:extLst>
              </a:tr>
              <a:tr h="163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12K hardware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6K hardware routing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0383086"/>
                  </a:ext>
                </a:extLst>
              </a:tr>
              <a:tr h="163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1024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990 static routes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1024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 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N/A</a:t>
                      </a:r>
                      <a:endParaRPr lang="zh-CN" altLang="zh-CN" sz="900" dirty="0" smtClean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6104384"/>
                  </a:ext>
                </a:extLst>
              </a:tr>
              <a:tr h="2846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L3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PBR,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PBR, RIP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OSPF, ECMP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OSPF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Static Route, RIP, ECMP (OSPF, PBR with license) 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45870797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VRRP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 (with license)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4225886"/>
                  </a:ext>
                </a:extLst>
              </a:tr>
              <a:tr h="429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Multicast Routing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PIM-DM (Will support PIM-SM by FW upgrade at end of 24.Q1)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PIM-SM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PIM-SM, PIM-DM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PIM-SM, PIM-SSM, PIM-DM (with license)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0655674"/>
                  </a:ext>
                </a:extLst>
              </a:tr>
              <a:tr h="1399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ERPS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154" marR="4154" marT="4154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√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×</a:t>
                      </a:r>
                      <a:endParaRPr lang="zh-CN" sz="9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×</a:t>
                      </a:r>
                      <a:endParaRPr lang="zh-CN" sz="9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31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74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6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73647"/>
              </p:ext>
            </p:extLst>
          </p:nvPr>
        </p:nvGraphicFramePr>
        <p:xfrm>
          <a:off x="1047337" y="812789"/>
          <a:ext cx="10040872" cy="531317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26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SX3016F v1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US-16-XG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DXS-1100-16SC</a:t>
                      </a:r>
                      <a:endParaRPr lang="en-US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CRS317-1G-16S+RM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10G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12* SFP+ + 4* 10GE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14* SFP+ + 2* 10GE/SFP+</a:t>
                      </a:r>
                      <a:r>
                        <a:rPr lang="en-US" altLang="zh-CN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Combo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GE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+ 16*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4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4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47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2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Redundant power supply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850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</a:t>
                      </a:r>
                      <a:r>
                        <a:rPr lang="en-US" altLang="zh-CN" sz="9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50-60 Hz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48/24 VDC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32.7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US" altLang="zh-CN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Fixd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Fixed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Fixed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Flexible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(10G Fiber Switch---- SX3016F)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41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7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130248"/>
              </p:ext>
            </p:extLst>
          </p:nvPr>
        </p:nvGraphicFramePr>
        <p:xfrm>
          <a:off x="1091726" y="626358"/>
          <a:ext cx="10040871" cy="581487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94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2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MikroTik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SX3008F v1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USW-Aggregation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CRS309-1G-8S+IN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10G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 10G SFP+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GE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sv-SE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1*RB232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4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 MB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51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4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47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2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OAM/ DDM/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2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asing &amp;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Plastic &amp; Desktop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850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 VAC, 50/60 Hz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802.3at PoE in;</a:t>
                      </a:r>
                      <a:b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12-57 VDC Adaptor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15.5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 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× 180 × 44 mm (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上机架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440 × 120 × 44 mm (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上机架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272 × 191 × 44 mm (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上机架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(10G Fiber Switch---- SX3008F)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646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(2.5G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SG3428XPP-M2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840298"/>
              </p:ext>
            </p:extLst>
          </p:nvPr>
        </p:nvGraphicFramePr>
        <p:xfrm>
          <a:off x="911067" y="999924"/>
          <a:ext cx="9422539" cy="473505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04156">
                  <a:extLst>
                    <a:ext uri="{9D8B030D-6E8A-4147-A177-3AD203B41FA5}">
                      <a16:colId xmlns:a16="http://schemas.microsoft.com/office/drawing/2014/main" val="2573891488"/>
                    </a:ext>
                  </a:extLst>
                </a:gridCol>
                <a:gridCol w="2539461">
                  <a:extLst>
                    <a:ext uri="{9D8B030D-6E8A-4147-A177-3AD203B41FA5}">
                      <a16:colId xmlns:a16="http://schemas.microsoft.com/office/drawing/2014/main" val="2107341593"/>
                    </a:ext>
                  </a:extLst>
                </a:gridCol>
                <a:gridCol w="2539461">
                  <a:extLst>
                    <a:ext uri="{9D8B030D-6E8A-4147-A177-3AD203B41FA5}">
                      <a16:colId xmlns:a16="http://schemas.microsoft.com/office/drawing/2014/main" val="2014632907"/>
                    </a:ext>
                  </a:extLst>
                </a:gridCol>
                <a:gridCol w="2539461">
                  <a:extLst>
                    <a:ext uri="{9D8B030D-6E8A-4147-A177-3AD203B41FA5}">
                      <a16:colId xmlns:a16="http://schemas.microsoft.com/office/drawing/2014/main" val="3389299750"/>
                    </a:ext>
                  </a:extLst>
                </a:gridCol>
              </a:tblGrid>
              <a:tr h="3799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 </a:t>
                      </a:r>
                      <a:endParaRPr lang="zh-CN" altLang="zh-CN" sz="900" b="1" i="0" u="none" strike="noStrike" kern="1200" dirty="0" smtClean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900" b="1" i="0" u="none" strike="noStrike" kern="1200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CN" sz="900" b="1" i="0" u="none" strike="noStrike" kern="1200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yxel</a:t>
                      </a:r>
                      <a:endParaRPr lang="en-US" sz="900" b="1" i="0" u="none" strike="noStrik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79917"/>
                  </a:ext>
                </a:extLst>
              </a:tr>
              <a:tr h="33347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SG3428XPP-M2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USW-Enterprise-24-PoE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XMG1930-30HP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284325"/>
                  </a:ext>
                </a:extLst>
              </a:tr>
              <a:tr h="56623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2.5Gbps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10Gbps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12* GE RJ45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12* 2.5Gbps RJ45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2* 10Gbps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2.5Gbps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10Gbps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2* 10Gbps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205321"/>
                  </a:ext>
                </a:extLst>
              </a:tr>
              <a:tr h="28271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Management 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Console + 1* Micro-USB Console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35077"/>
                  </a:ext>
                </a:extLst>
              </a:tr>
              <a:tr h="75497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budget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++ Ports (up to 60W per port) 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2.5G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Ports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power budget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12* 2.5G PoE+ Ports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12* GE PoE+ Ports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 PoE power budget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10G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++ Ports (up to 60W per port)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2.5G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++ Ports (up to 60W per port)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20* 2.5G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Ports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；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power budget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为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98363"/>
                  </a:ext>
                </a:extLst>
              </a:tr>
              <a:tr h="2876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26418"/>
                  </a:ext>
                </a:extLst>
              </a:tr>
              <a:tr h="28247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631363"/>
                  </a:ext>
                </a:extLst>
              </a:tr>
              <a:tr h="28247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Flash / RAM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MB / 256 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MB / 256 MB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297053"/>
                  </a:ext>
                </a:extLst>
              </a:tr>
              <a:tr h="28247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82256"/>
                  </a:ext>
                </a:extLst>
              </a:tr>
              <a:tr h="28247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Centralized Management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Omada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SDN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Unifi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Nebula</a:t>
                      </a: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00057"/>
                  </a:ext>
                </a:extLst>
              </a:tr>
              <a:tr h="37193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147814"/>
                  </a:ext>
                </a:extLst>
              </a:tr>
              <a:tr h="34048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265150"/>
                  </a:ext>
                </a:extLst>
              </a:tr>
              <a:tr h="28769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CLI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需单独购买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License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83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59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(2.5G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Switch---- SG3428X-M2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185021"/>
              </p:ext>
            </p:extLst>
          </p:nvPr>
        </p:nvGraphicFramePr>
        <p:xfrm>
          <a:off x="911067" y="999924"/>
          <a:ext cx="9422540" cy="410054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469786">
                  <a:extLst>
                    <a:ext uri="{9D8B030D-6E8A-4147-A177-3AD203B41FA5}">
                      <a16:colId xmlns:a16="http://schemas.microsoft.com/office/drawing/2014/main" val="2573891488"/>
                    </a:ext>
                  </a:extLst>
                </a:gridCol>
                <a:gridCol w="3476377">
                  <a:extLst>
                    <a:ext uri="{9D8B030D-6E8A-4147-A177-3AD203B41FA5}">
                      <a16:colId xmlns:a16="http://schemas.microsoft.com/office/drawing/2014/main" val="2107341593"/>
                    </a:ext>
                  </a:extLst>
                </a:gridCol>
                <a:gridCol w="3476377">
                  <a:extLst>
                    <a:ext uri="{9D8B030D-6E8A-4147-A177-3AD203B41FA5}">
                      <a16:colId xmlns:a16="http://schemas.microsoft.com/office/drawing/2014/main" val="3389299750"/>
                    </a:ext>
                  </a:extLst>
                </a:gridCol>
              </a:tblGrid>
              <a:tr h="31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en-US" altLang="zh-CN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yxel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079917"/>
                  </a:ext>
                </a:extLst>
              </a:tr>
              <a:tr h="2786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SG3428X-M2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XMG1930-30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284325"/>
                  </a:ext>
                </a:extLst>
              </a:tr>
              <a:tr h="28303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2.5Gbps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10Gbps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2.5Gbps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4* 10Gbps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2* 10Gbps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205321"/>
                  </a:ext>
                </a:extLst>
              </a:tr>
              <a:tr h="23626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Management 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Console + 1* Micro-USB Console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35077"/>
                  </a:ext>
                </a:extLst>
              </a:tr>
              <a:tr h="2596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MB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98363"/>
                  </a:ext>
                </a:extLst>
              </a:tr>
              <a:tr h="2404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126418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Flash / RAM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MB / 256 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MB / 256 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631363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297053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Centralized Management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Omada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SDN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Nebula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182256"/>
                  </a:ext>
                </a:extLst>
              </a:tr>
              <a:tr h="2360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00057"/>
                  </a:ext>
                </a:extLst>
              </a:tr>
              <a:tr h="3108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147814"/>
                  </a:ext>
                </a:extLst>
              </a:tr>
              <a:tr h="2845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CLI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需单独购买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License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265150"/>
                  </a:ext>
                </a:extLst>
              </a:tr>
              <a:tr h="2404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45.1 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67.1 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783040"/>
                  </a:ext>
                </a:extLst>
              </a:tr>
              <a:tr h="5147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17.3 × 7.1 × 1.7 in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(440 × 180 × 44 mm)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17.3 × 10.6 × 1.7 in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(441 × 270 × 44 mm)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753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31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10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064810"/>
              </p:ext>
            </p:extLst>
          </p:nvPr>
        </p:nvGraphicFramePr>
        <p:xfrm>
          <a:off x="683353" y="546809"/>
          <a:ext cx="10672001" cy="623951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9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1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48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20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5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Trend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SG3210XHP-M2 v3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DMS-1100-10TP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M4200-10MG-PoE+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TPE-30102WS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6* 2.5G RJ45 + 2* 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2.5G RJ45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MGMT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240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Mbit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0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8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ulticast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585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Protocol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802.1Q Tagged VLAN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Private VLAN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Voice VLAN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RIP dynamic 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08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49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TLS Version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LAG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Groups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DDM/ L2TP/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asing &amp; 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 &amp;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22" name="标题 2"/>
          <p:cNvSpPr txBox="1"/>
          <p:nvPr/>
        </p:nvSpPr>
        <p:spPr>
          <a:xfrm>
            <a:off x="683354" y="12829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(2.5G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SG3210XHP-M2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428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11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标题 2"/>
          <p:cNvSpPr txBox="1"/>
          <p:nvPr/>
        </p:nvSpPr>
        <p:spPr>
          <a:xfrm>
            <a:off x="692879" y="212854"/>
            <a:ext cx="10103015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(24 SFP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Switch with 10G Uplink-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SG3428XF)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79839"/>
              </p:ext>
            </p:extLst>
          </p:nvPr>
        </p:nvGraphicFramePr>
        <p:xfrm>
          <a:off x="854804" y="1196975"/>
          <a:ext cx="9222646" cy="456352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783421">
                  <a:extLst>
                    <a:ext uri="{9D8B030D-6E8A-4147-A177-3AD203B41FA5}">
                      <a16:colId xmlns:a16="http://schemas.microsoft.com/office/drawing/2014/main" val="2999335021"/>
                    </a:ext>
                  </a:extLst>
                </a:gridCol>
                <a:gridCol w="2510277">
                  <a:extLst>
                    <a:ext uri="{9D8B030D-6E8A-4147-A177-3AD203B41FA5}">
                      <a16:colId xmlns:a16="http://schemas.microsoft.com/office/drawing/2014/main" val="4224116526"/>
                    </a:ext>
                  </a:extLst>
                </a:gridCol>
                <a:gridCol w="2510277">
                  <a:extLst>
                    <a:ext uri="{9D8B030D-6E8A-4147-A177-3AD203B41FA5}">
                      <a16:colId xmlns:a16="http://schemas.microsoft.com/office/drawing/2014/main" val="4167613796"/>
                    </a:ext>
                  </a:extLst>
                </a:gridCol>
                <a:gridCol w="2418671">
                  <a:extLst>
                    <a:ext uri="{9D8B030D-6E8A-4147-A177-3AD203B41FA5}">
                      <a16:colId xmlns:a16="http://schemas.microsoft.com/office/drawing/2014/main" val="3927048726"/>
                    </a:ext>
                  </a:extLst>
                </a:gridCol>
              </a:tblGrid>
              <a:tr h="3145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</a:t>
                      </a:r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1" i="0" u="none" strike="noStrike" dirty="0" err="1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ikroTik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062221"/>
                  </a:ext>
                </a:extLst>
              </a:tr>
              <a:tr h="2760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SG3428XF 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DGS-1210-28XS/ME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CRS328-4C-20S-4S+RM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204787"/>
                  </a:ext>
                </a:extLst>
              </a:tr>
              <a:tr h="28033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 SFP + 4 SFP/RJ45 Combo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SFP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 SFP + 4 SFP/RJ45 Combo + 4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303193"/>
                  </a:ext>
                </a:extLst>
              </a:tr>
              <a:tr h="23401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791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229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910634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1.5MB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696680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Flash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16MB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402121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873458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536986"/>
                  </a:ext>
                </a:extLst>
              </a:tr>
              <a:tr h="25702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511815"/>
                  </a:ext>
                </a:extLst>
              </a:tr>
              <a:tr h="28183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629912"/>
                  </a:ext>
                </a:extLst>
              </a:tr>
              <a:tr h="23813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 32 IPv6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589285"/>
                  </a:ext>
                </a:extLst>
              </a:tr>
              <a:tr h="7585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181205"/>
                  </a:ext>
                </a:extLst>
              </a:tr>
              <a:tr h="2338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Feature*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L2TP, DDM, </a:t>
                      </a:r>
                      <a:r>
                        <a:rPr 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ERPS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008286"/>
                  </a:ext>
                </a:extLst>
              </a:tr>
              <a:tr h="25874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Advance Feature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244" marR="6724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√（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RIP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OSPF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BGP</a:t>
                      </a: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7244" marR="6724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59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65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12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标题 2"/>
          <p:cNvSpPr txBox="1"/>
          <p:nvPr/>
        </p:nvSpPr>
        <p:spPr>
          <a:xfrm>
            <a:off x="683354" y="181271"/>
            <a:ext cx="10103015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(48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Switch with 10G Uplink-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SG3452X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823502"/>
              </p:ext>
            </p:extLst>
          </p:nvPr>
        </p:nvGraphicFramePr>
        <p:xfrm>
          <a:off x="683354" y="1105258"/>
          <a:ext cx="10565391" cy="5008327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3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4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2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86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SG3452X 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USW-Pro-48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DGS-3000-52X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GC752X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2540 48G 4SFP+ Switch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+ 2 SFP + 2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Micro-USB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 32 IPv6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 31 IPv6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06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DHCP Relay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329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Feature*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L2TP, DDM,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L2TP,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Dying Gasp, CFM, Y.1731 OAM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93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185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Max. power consumption</a:t>
                      </a:r>
                      <a:endParaRPr lang="zh-CN" alt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32.7W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40.7W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43.9W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46.6W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50185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无</a:t>
                      </a: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98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80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83354" y="229397"/>
            <a:ext cx="10103015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(48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with 10G Uplink-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SG3452XP)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340697"/>
              </p:ext>
            </p:extLst>
          </p:nvPr>
        </p:nvGraphicFramePr>
        <p:xfrm>
          <a:off x="683354" y="1418080"/>
          <a:ext cx="10565391" cy="44894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23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74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2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6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39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SG3452XP v2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US-48-500W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DGS-1250-52XMP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GC752XP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2540 48G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+ 4SFP+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5776" marR="55776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+ 2 SFP + 2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+ 2 SFP + 2 SFP+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RJ45 + 4 SFP+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Micro-USB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RJ45 + 1 Micro-USB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 budget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+, 500W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PoE+,436W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370W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 505W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+, 370W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6021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124 IPv4, 50 IPv6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 31 IPv6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6561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DHCP Relay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Feature*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L2TP, DDM, </a:t>
                      </a:r>
                      <a:r>
                        <a:rPr 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900" b="0" i="0" u="none" strike="noStrike" kern="120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ERPS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0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0364" marR="60364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25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14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813384"/>
              </p:ext>
            </p:extLst>
          </p:nvPr>
        </p:nvGraphicFramePr>
        <p:xfrm>
          <a:off x="673829" y="590550"/>
          <a:ext cx="11162922" cy="5850848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SG3428XMP v3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USW-Pro-24-PoE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DGS-3000-28XMP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GC728XP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MS125-24P-HW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2540 24G PoE+ 4SFP+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10G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nl-NL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384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 PoE+, 8 PoE++, 400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390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 370 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Ingress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62.2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Egress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DCHP Ser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DDM/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64776" y="12829"/>
            <a:ext cx="9456999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Switch with 10G Uplink-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SG3428XMP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091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15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37807"/>
              </p:ext>
            </p:extLst>
          </p:nvPr>
        </p:nvGraphicFramePr>
        <p:xfrm>
          <a:off x="664304" y="625284"/>
          <a:ext cx="10810472" cy="587514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35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1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6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SG3428X v1.20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USW-Pro-24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DGS-3000-28X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GC728X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MS125-24-HW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2540 24G 4SFP+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 GE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GE + 4*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10G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nl-NL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nl-NL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 + 2*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+ 4* 10G SFP+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Ingress</a:t>
                      </a:r>
                      <a:b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</a:b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62.2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Egress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IPv4,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31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DCHP Ser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DDM/ </a:t>
                      </a:r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OAM/ L2TP/ 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64304" y="12829"/>
            <a:ext cx="8715086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Switch with 10G Uplink-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SG3428X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586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16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45313"/>
              </p:ext>
            </p:extLst>
          </p:nvPr>
        </p:nvGraphicFramePr>
        <p:xfrm>
          <a:off x="579423" y="749109"/>
          <a:ext cx="11162922" cy="581037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96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53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1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SG3452P v3.20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USW-48-PoE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DGS-1210-52MP/ME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GS752TP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MS120-48LP-HW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2530-48G-PoE+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195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40 PoE, 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44783" y="91383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(48 GE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SG3452P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198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17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25807"/>
              </p:ext>
            </p:extLst>
          </p:nvPr>
        </p:nvGraphicFramePr>
        <p:xfrm>
          <a:off x="912798" y="653859"/>
          <a:ext cx="10583876" cy="58027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42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SG3452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DGS-1210-52/ME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GS748T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MS120-48-HW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2530-48G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AAA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884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Layer 2 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45254" y="40460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(48 GE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SG3452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313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18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500837"/>
              </p:ext>
            </p:extLst>
          </p:nvPr>
        </p:nvGraphicFramePr>
        <p:xfrm>
          <a:off x="635729" y="558609"/>
          <a:ext cx="11162922" cy="605206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4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SG3428MP v6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US-24-500W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DGS-1210-28MP/ME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M4100-26G-PoE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MS120-24P-HW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2530-24G-PoE+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235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1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470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380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370W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0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8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1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68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82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158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34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 DDM,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6" name="标题 2"/>
          <p:cNvSpPr txBox="1"/>
          <p:nvPr/>
        </p:nvSpPr>
        <p:spPr>
          <a:xfrm>
            <a:off x="635729" y="29991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SG3428MP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81287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19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885971"/>
              </p:ext>
            </p:extLst>
          </p:nvPr>
        </p:nvGraphicFramePr>
        <p:xfrm>
          <a:off x="563677" y="558609"/>
          <a:ext cx="11162922" cy="575165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85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8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82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SG3428 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v2.20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DGS-1210-28/ME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M4100-26G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MS120-24-HW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2530-24G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03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GE/SFP Combo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2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2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4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4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92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3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9224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1919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 DDM, </a:t>
                      </a: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sFlow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SG3428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889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20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046525"/>
              </p:ext>
            </p:extLst>
          </p:nvPr>
        </p:nvGraphicFramePr>
        <p:xfrm>
          <a:off x="726636" y="627619"/>
          <a:ext cx="10795032" cy="565734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7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4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5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SG3210 v3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DGS-1210-10/ME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GC110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2530-8G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48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0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93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1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 Group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511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512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5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384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5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2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55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 IPv4, 32 IPv6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4627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4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ISP F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eature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OAM,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DDM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OAM, DDM, Dying Gasp, ERPS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sFlow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4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11413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SG3210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190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21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85713"/>
              </p:ext>
            </p:extLst>
          </p:nvPr>
        </p:nvGraphicFramePr>
        <p:xfrm>
          <a:off x="762003" y="627619"/>
          <a:ext cx="10660077" cy="564935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4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Cisco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SG2428P v6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DBS-2000-28P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GS728TP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CBS250-24P-4G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GE/SFP Combo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 + 1* Micro-USB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USB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250W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193W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 PoE,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192W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195W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35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5097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SG2428P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790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83903"/>
              </p:ext>
            </p:extLst>
          </p:nvPr>
        </p:nvGraphicFramePr>
        <p:xfrm>
          <a:off x="1716832" y="1306281"/>
          <a:ext cx="7551239" cy="4121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2995">
                  <a:extLst>
                    <a:ext uri="{9D8B030D-6E8A-4147-A177-3AD203B41FA5}">
                      <a16:colId xmlns:a16="http://schemas.microsoft.com/office/drawing/2014/main" val="1933527572"/>
                    </a:ext>
                  </a:extLst>
                </a:gridCol>
                <a:gridCol w="3022168">
                  <a:extLst>
                    <a:ext uri="{9D8B030D-6E8A-4147-A177-3AD203B41FA5}">
                      <a16:colId xmlns:a16="http://schemas.microsoft.com/office/drawing/2014/main" val="2399939906"/>
                    </a:ext>
                  </a:extLst>
                </a:gridCol>
                <a:gridCol w="2886076">
                  <a:extLst>
                    <a:ext uri="{9D8B030D-6E8A-4147-A177-3AD203B41FA5}">
                      <a16:colId xmlns:a16="http://schemas.microsoft.com/office/drawing/2014/main" val="3930178113"/>
                    </a:ext>
                  </a:extLst>
                </a:gridCol>
              </a:tblGrid>
              <a:tr h="5619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Model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Omada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SG2428LP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UBNT</a:t>
                      </a:r>
                      <a:endParaRPr lang="zh-CN" sz="11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USW-24-POE (95W)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961486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24* GE + 4* SFP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24* GE + 2* SFP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3478827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16* PoE+, 150W PoE Budget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16* PoE+, 95W PoE Budget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3169514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Button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1* Reset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1* Reset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3719638"/>
                  </a:ext>
                </a:extLst>
              </a:tr>
              <a:tr h="5619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Total non-blocking throughput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28 Gbps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26 Gbps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1405327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Forwarding rate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41.66 Mpps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38.69 Mpps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0121193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Static Routing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4354800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IP Interface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9156729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Server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6678441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DHCP Relay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2127619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Surge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6 kV for port and 4 kV for power module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N/A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9620419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Fanless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Fanless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0518171"/>
                  </a:ext>
                </a:extLst>
              </a:tr>
              <a:tr h="272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Power method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100—240V AC, 50/60 Hz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100—240V AC, 50/60 Hz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8717627"/>
                  </a:ext>
                </a:extLst>
              </a:tr>
            </a:tbl>
          </a:graphicData>
        </a:graphic>
      </p:graphicFrame>
      <p:sp>
        <p:nvSpPr>
          <p:cNvPr id="3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GE PoE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SG2428LP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9306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/>
          <p:nvPr/>
        </p:nvSpPr>
        <p:spPr>
          <a:xfrm>
            <a:off x="635729" y="217166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(16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PoE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SG2218P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972847"/>
              </p:ext>
            </p:extLst>
          </p:nvPr>
        </p:nvGraphicFramePr>
        <p:xfrm>
          <a:off x="635729" y="1382128"/>
          <a:ext cx="10660077" cy="407806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4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Cisco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SG2218P 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USW-16-PoE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GS716TP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CBS250-16P-2G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Gigabit RJ45 Ports + 2* Gigabit SFP Slots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+, max 30W/port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PoE+, max 30W/port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PoE, max 30W/port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PoE, max 30W/port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budget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42W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180W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Mbit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Mbit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Mbit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17.3 × 7.1 × 1.7 in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(440 × 180 × 44 mm)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17.4 × 7.9 × 1.7 in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(442 × 200 × 44 mm)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17.3 × 8.0 × 1.7 in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(440 × 204 × 43 mm)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10.6 × 11.7 × 1.7 in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(268 × 297 × 44 mm)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Fanless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Fanless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98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24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095122"/>
              </p:ext>
            </p:extLst>
          </p:nvPr>
        </p:nvGraphicFramePr>
        <p:xfrm>
          <a:off x="762003" y="676275"/>
          <a:ext cx="10660077" cy="535672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4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6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SG2218 v1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GS716Tv3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16G Switch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+ 4*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ARP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316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512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26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2063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20466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(16 GE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SG2218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783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/>
          <p:nvPr/>
        </p:nvSpPr>
        <p:spPr>
          <a:xfrm>
            <a:off x="671240" y="251286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(16 GE Smart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 SG2016P)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557348"/>
              </p:ext>
            </p:extLst>
          </p:nvPr>
        </p:nvGraphicFramePr>
        <p:xfrm>
          <a:off x="918890" y="1056105"/>
          <a:ext cx="9403201" cy="466660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029465">
                  <a:extLst>
                    <a:ext uri="{9D8B030D-6E8A-4147-A177-3AD203B41FA5}">
                      <a16:colId xmlns:a16="http://schemas.microsoft.com/office/drawing/2014/main" val="2967571537"/>
                    </a:ext>
                  </a:extLst>
                </a:gridCol>
                <a:gridCol w="2209421">
                  <a:extLst>
                    <a:ext uri="{9D8B030D-6E8A-4147-A177-3AD203B41FA5}">
                      <a16:colId xmlns:a16="http://schemas.microsoft.com/office/drawing/2014/main" val="4236278632"/>
                    </a:ext>
                  </a:extLst>
                </a:gridCol>
                <a:gridCol w="2468786">
                  <a:extLst>
                    <a:ext uri="{9D8B030D-6E8A-4147-A177-3AD203B41FA5}">
                      <a16:colId xmlns:a16="http://schemas.microsoft.com/office/drawing/2014/main" val="947873974"/>
                    </a:ext>
                  </a:extLst>
                </a:gridCol>
                <a:gridCol w="2695529">
                  <a:extLst>
                    <a:ext uri="{9D8B030D-6E8A-4147-A177-3AD203B41FA5}">
                      <a16:colId xmlns:a16="http://schemas.microsoft.com/office/drawing/2014/main" val="964954897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42089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SG2016P v1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USW-Lite-16-PoE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GS516TP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5870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GE + 2* SFP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GE + 4* SFP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GE + 2* SFP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095001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Gigabit RJ45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Gigabit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16* Gigabit RJ45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107041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ports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+, max 30W/port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PoE+, max 30W/port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8* PoE, max 15.4W/port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467789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budget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45W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76W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1147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04895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Group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30223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Support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27013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IP Interface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9884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Static route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(IPv4, IPv6)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 (IPv4)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311873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Server,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Relay, 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 Snooping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86115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286*111.7*25.4 mm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191.7*185*43.7 mm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328*169*43 mm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21629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932071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53.5VDC/2.43A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100-240V AC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100-240V AC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839986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Mounting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Desktop/ Wall-mount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Desktop</a:t>
                      </a:r>
                      <a:endParaRPr lang="zh-CN" sz="900" b="0" i="0" u="none" strike="noStrike" kern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Rackmount</a:t>
                      </a:r>
                      <a:endParaRPr lang="zh-C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673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643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71240" y="251286"/>
            <a:ext cx="8687364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(8 2.5G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Smart </a:t>
            </a:r>
            <a:r>
              <a:rPr lang="en-US" altLang="zh-CN" sz="2000" b="1" dirty="0" err="1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PoE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 Switch----SG2210XHP-M2)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737805"/>
              </p:ext>
            </p:extLst>
          </p:nvPr>
        </p:nvGraphicFramePr>
        <p:xfrm>
          <a:off x="1305663" y="879936"/>
          <a:ext cx="9403201" cy="551481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029465">
                  <a:extLst>
                    <a:ext uri="{9D8B030D-6E8A-4147-A177-3AD203B41FA5}">
                      <a16:colId xmlns:a16="http://schemas.microsoft.com/office/drawing/2014/main" val="431789429"/>
                    </a:ext>
                  </a:extLst>
                </a:gridCol>
                <a:gridCol w="2209421">
                  <a:extLst>
                    <a:ext uri="{9D8B030D-6E8A-4147-A177-3AD203B41FA5}">
                      <a16:colId xmlns:a16="http://schemas.microsoft.com/office/drawing/2014/main" val="3217079326"/>
                    </a:ext>
                  </a:extLst>
                </a:gridCol>
                <a:gridCol w="2468786">
                  <a:extLst>
                    <a:ext uri="{9D8B030D-6E8A-4147-A177-3AD203B41FA5}">
                      <a16:colId xmlns:a16="http://schemas.microsoft.com/office/drawing/2014/main" val="995781229"/>
                    </a:ext>
                  </a:extLst>
                </a:gridCol>
                <a:gridCol w="2695529">
                  <a:extLst>
                    <a:ext uri="{9D8B030D-6E8A-4147-A177-3AD203B41FA5}">
                      <a16:colId xmlns:a16="http://schemas.microsoft.com/office/drawing/2014/main" val="1216415428"/>
                    </a:ext>
                  </a:extLst>
                </a:gridCol>
              </a:tblGrid>
              <a:tr h="2736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UBNT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092715"/>
                  </a:ext>
                </a:extLst>
              </a:tr>
              <a:tr h="2216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Model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</a:rPr>
                        <a:t>SG2210XMP-M2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</a:rPr>
                        <a:t>USW-Enterprise-8-PoE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smtClean="0">
                          <a:effectLst/>
                        </a:rPr>
                        <a:t>MS108EUP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97116"/>
                  </a:ext>
                </a:extLst>
              </a:tr>
              <a:tr h="2442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Ports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8* 2.5G RJ45 + 2* 10G SFP+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2.5G RJ45 + 2* 10G SFP+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2.5G RJ45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63667"/>
                  </a:ext>
                </a:extLst>
              </a:tr>
              <a:tr h="296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</a:rPr>
                        <a:t>PoE</a:t>
                      </a:r>
                      <a:r>
                        <a:rPr lang="en-US" sz="1050" dirty="0">
                          <a:effectLst/>
                        </a:rPr>
                        <a:t> ports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8* </a:t>
                      </a:r>
                      <a:r>
                        <a:rPr lang="en-US" sz="1050" dirty="0" err="1">
                          <a:effectLst/>
                        </a:rPr>
                        <a:t>PoE</a:t>
                      </a:r>
                      <a:r>
                        <a:rPr lang="en-US" sz="1050" dirty="0">
                          <a:effectLst/>
                        </a:rPr>
                        <a:t>+, max 30W/port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8* PoE+,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4* PoE++, max 60W/port</a:t>
                      </a:r>
                      <a:endParaRPr lang="zh-CN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4* PoE+ in, max 30W/port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887466"/>
                  </a:ext>
                </a:extLst>
              </a:tr>
              <a:tr h="2111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PoE Budget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160W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120W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230W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14101"/>
                  </a:ext>
                </a:extLst>
              </a:tr>
              <a:tr h="20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SDN Support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√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649506"/>
                  </a:ext>
                </a:extLst>
              </a:tr>
              <a:tr h="20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MAC Address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16k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-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16k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395013"/>
                  </a:ext>
                </a:extLst>
              </a:tr>
              <a:tr h="20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Packet buffer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1.5 MB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-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1.5 MB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182072"/>
                  </a:ext>
                </a:extLst>
              </a:tr>
              <a:tr h="20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IP Interface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718977"/>
                  </a:ext>
                </a:extLst>
              </a:tr>
              <a:tr h="2034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Static route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32 (IPv4, IPv6)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986595"/>
                  </a:ext>
                </a:extLst>
              </a:tr>
              <a:tr h="45125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DHCP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●DHCP Server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●DHCP Relay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●DHCP Snooping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69518"/>
                  </a:ext>
                </a:extLst>
              </a:tr>
              <a:tr h="2488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AAA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050022"/>
                  </a:ext>
                </a:extLst>
              </a:tr>
              <a:tr h="2213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IGMP Snooping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46754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√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×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783229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Port Security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√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083073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CLI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72" marR="7372" marT="7372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√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</a:rPr>
                        <a:t>×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21321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Power Supply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372" marR="7372" marT="7372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External Power Adapter, </a:t>
                      </a:r>
                      <a:r>
                        <a:rPr lang="en-US" sz="1050" kern="100" dirty="0">
                          <a:effectLst/>
                        </a:rPr>
                        <a:t>53.5VDC/3.37A input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939" marR="7939" marT="7939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Internal Power module, AC input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External Power Adapter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372942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Dimensions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226 × 131 × 35 mm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200 </a:t>
                      </a:r>
                      <a:r>
                        <a:rPr lang="en-US" sz="1050" kern="100" dirty="0">
                          <a:effectLst/>
                        </a:rPr>
                        <a:t>×</a:t>
                      </a:r>
                      <a:r>
                        <a:rPr lang="en-US" sz="1050" dirty="0">
                          <a:effectLst/>
                        </a:rPr>
                        <a:t> 248 </a:t>
                      </a:r>
                      <a:r>
                        <a:rPr lang="en-US" sz="1050" kern="100" dirty="0">
                          <a:effectLst/>
                        </a:rPr>
                        <a:t>×</a:t>
                      </a:r>
                      <a:r>
                        <a:rPr lang="en-US" sz="1050" dirty="0">
                          <a:effectLst/>
                        </a:rPr>
                        <a:t> 44 mm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210 </a:t>
                      </a:r>
                      <a:r>
                        <a:rPr lang="en-US" sz="1050" kern="100" dirty="0">
                          <a:effectLst/>
                        </a:rPr>
                        <a:t>×</a:t>
                      </a:r>
                      <a:r>
                        <a:rPr lang="en-US" sz="1050" dirty="0">
                          <a:effectLst/>
                        </a:rPr>
                        <a:t> 140 </a:t>
                      </a:r>
                      <a:r>
                        <a:rPr lang="en-US" sz="1050" kern="100" dirty="0">
                          <a:effectLst/>
                        </a:rPr>
                        <a:t>×</a:t>
                      </a:r>
                      <a:r>
                        <a:rPr lang="en-US" sz="1050" dirty="0">
                          <a:effectLst/>
                        </a:rPr>
                        <a:t> 40 mm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212585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FAN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Fanless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</a:rPr>
                        <a:t>Fanless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</a:rPr>
                        <a:t>Fanless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30205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Shell material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Steel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Plastic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Steel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776152"/>
                  </a:ext>
                </a:extLst>
              </a:tr>
              <a:tr h="25320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Mounting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Desktop/Wall-Mounting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506" marR="8506" marT="8506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Desktop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Desktop/Wall-Mounting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516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45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27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9261"/>
              </p:ext>
            </p:extLst>
          </p:nvPr>
        </p:nvGraphicFramePr>
        <p:xfrm>
          <a:off x="970233" y="676275"/>
          <a:ext cx="10660078" cy="5615883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1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SG2210MP v4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US-8-150W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DBS-2000-10MP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GS510TP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8G PoE+ (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180W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MS120-8FP-HW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150W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130W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180W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124W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255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20466"/>
            <a:ext cx="7956010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SG2210MP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6357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28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863452"/>
              </p:ext>
            </p:extLst>
          </p:nvPr>
        </p:nvGraphicFramePr>
        <p:xfrm>
          <a:off x="731451" y="676275"/>
          <a:ext cx="10690629" cy="5615883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546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1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D-Link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SG2210P v5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DGS-1210-10P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GS110TPv3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 8G PoE+ (65W) switch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MS120-8LP-HW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Console</a:t>
                      </a:r>
                      <a:r>
                        <a:rPr lang="zh-CN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1* RJ45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 PoE+, 61W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PoE, 46W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PoE+, 67W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SG2210P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65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29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45165"/>
              </p:ext>
            </p:extLst>
          </p:nvPr>
        </p:nvGraphicFramePr>
        <p:xfrm>
          <a:off x="1594923" y="587226"/>
          <a:ext cx="9395984" cy="589654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637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1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990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HPE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3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SG2008P v3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USW-Lite-8-PoE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US-8-60W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1920S 8G PPoE+ 65W Switch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45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GE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7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PoE+, 62W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PoE+, 52W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PoE, 48W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 PoE+, 65W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tandard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802.3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af/at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802.3af/at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802.3af/at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6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0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9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5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6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991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0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Shell material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Plastic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SG2008P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905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30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543352"/>
              </p:ext>
            </p:extLst>
          </p:nvPr>
        </p:nvGraphicFramePr>
        <p:xfrm>
          <a:off x="943073" y="676274"/>
          <a:ext cx="10660078" cy="5510729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1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41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8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Meraki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Aruba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</a:t>
                      </a:r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ink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SG2008 v4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US-8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MS120-8-HW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GS108Tv3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1920S 8G Switch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DGS-1210-10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8* 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*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+ 2* SFP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16K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6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90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7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IPv4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71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76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Power Supply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V/1 A DC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 V/0.5 A DC</a:t>
                      </a:r>
                    </a:p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 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 V/1.67 A DC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 V/1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 DC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PoE in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 AC ~ 50/60 Hz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100-240 V AC ~ 50/60 Hz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43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PoE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Passthrough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(12W)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Installation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Wall-mount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Rackmount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Desktop, Rackmount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SG2008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853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(5 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GE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---SG2005P-PD)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53959"/>
              </p:ext>
            </p:extLst>
          </p:nvPr>
        </p:nvGraphicFramePr>
        <p:xfrm>
          <a:off x="1504409" y="564979"/>
          <a:ext cx="8920678" cy="6368016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699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8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3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UBNT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2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</a:rPr>
                        <a:t>SG2005P-PD</a:t>
                      </a:r>
                      <a:endParaRPr lang="zh-CN" altLang="zh-CN" sz="9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</a:rPr>
                        <a:t>USW-Flex</a:t>
                      </a:r>
                      <a:endParaRPr lang="zh-CN" altLang="zh-CN" sz="900" dirty="0"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Ports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5* GE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5* GE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PoE</a:t>
                      </a:r>
                      <a:r>
                        <a:rPr lang="en-US" sz="1000" dirty="0">
                          <a:effectLst/>
                        </a:rPr>
                        <a:t> ports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1* </a:t>
                      </a:r>
                      <a:r>
                        <a:rPr lang="en-US" sz="1000" dirty="0" err="1">
                          <a:effectLst/>
                        </a:rPr>
                        <a:t>PoE</a:t>
                      </a:r>
                      <a:r>
                        <a:rPr lang="en-US" sz="1000" dirty="0">
                          <a:effectLst/>
                        </a:rPr>
                        <a:t>++ in, max 90W/port</a:t>
                      </a:r>
                      <a:endParaRPr lang="zh-CN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4* </a:t>
                      </a:r>
                      <a:r>
                        <a:rPr lang="en-US" sz="1000" dirty="0" err="1">
                          <a:effectLst/>
                        </a:rPr>
                        <a:t>PoE</a:t>
                      </a:r>
                      <a:r>
                        <a:rPr lang="en-US" sz="1000" dirty="0">
                          <a:effectLst/>
                        </a:rPr>
                        <a:t>++ in, max 30W/port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1* PoE++ in, max 90W/port</a:t>
                      </a:r>
                      <a:endParaRPr lang="zh-CN" sz="10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4* PoE++ in, max 30W/port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Flash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32 MB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839164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DRAM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256 MB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128 MB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31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PoE budget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64 W when powered by 802.3bt Type 4 (90 W)</a:t>
                      </a:r>
                      <a:endParaRPr lang="zh-CN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44 W when powered by 802.3bt Type 3 (60 W)</a:t>
                      </a:r>
                      <a:endParaRPr lang="zh-CN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19 W when powered by 802.3at</a:t>
                      </a:r>
                      <a:endParaRPr lang="zh-CN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 W when powered by 802.3at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46 W when powered by 802.3bt Type 3 (60 W)</a:t>
                      </a:r>
                      <a:endParaRPr lang="zh-CN" sz="10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 W when powered by 802.3at</a:t>
                      </a:r>
                      <a:endParaRPr lang="zh-CN" sz="10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8 W when powered by 802.3at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MAC Address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8K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-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VLAN Group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4K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-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SDN Support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√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IP Interface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16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Static route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32 (IPv4, IPv6)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83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DHCP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●DHCP Server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●DHCP Relay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●DHCP Snooping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4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AAA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0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LACP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IGMP Snooping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STP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378320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DHCP Filter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05866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Port Security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ACL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894304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Auto VoIP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×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27639"/>
                  </a:ext>
                </a:extLst>
              </a:tr>
              <a:tr h="1640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CLI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16" marR="4616" marT="461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√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×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734784"/>
                  </a:ext>
                </a:extLst>
              </a:tr>
              <a:tr h="1640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16" marR="4616" marT="461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IP55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IP55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682032"/>
                  </a:ext>
                </a:extLst>
              </a:tr>
              <a:tr h="1640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Surge Protection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616" marR="4616" marT="4616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4kV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×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972" marR="4972" marT="4972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374458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Dimensions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170 × 100 × 38.5 mm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122.5 x 107.1 x 28 mm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63740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FAN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Fanless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Fanless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758292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Operating Temperature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-40 to 60 °C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-40 to 55° 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713587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Shell material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Plastic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Plastic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23061"/>
                  </a:ext>
                </a:extLst>
              </a:tr>
              <a:tr h="164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Mounting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Pole-Mounting/Wall-Mounting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Pole-Mounting/Wall-Mounting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27" marR="5327" marT="5327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42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84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32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标题 2"/>
          <p:cNvSpPr txBox="1"/>
          <p:nvPr/>
        </p:nvSpPr>
        <p:spPr>
          <a:xfrm>
            <a:off x="671943" y="228694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(8 GE Smart PoE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Switch)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1877154"/>
                  </p:ext>
                </p:extLst>
              </p:nvPr>
            </p:nvGraphicFramePr>
            <p:xfrm>
              <a:off x="869131" y="1020282"/>
              <a:ext cx="10426200" cy="4113033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23058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103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990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Vendor</a:t>
                          </a:r>
                          <a:endParaRPr lang="zh-CN" alt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TP-Link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SG2008P v1/v2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SG2210P v3.2/v4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SG2210MP v1/v2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Ports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GE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8* GE + 2* SFP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SDN 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upport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227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 PoE+, 62W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PoE+,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61W</a:t>
                          </a:r>
                          <a:endParaRPr lang="en-US" altLang="zh-CN" sz="9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PoE+, 150W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PoE power</a:t>
                          </a:r>
                        </a:p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/</a:t>
                          </a:r>
                          <a:r>
                            <a:rPr 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62</m:t>
                                  </m:r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15.5W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61</m:t>
                                  </m:r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altLang="zh-CN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7.6W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150</m:t>
                                  </m:r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altLang="zh-CN" sz="900" b="0" i="1" u="none" strike="noStrike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altLang="zh-CN" sz="900" b="0" i="0" u="none" strike="noStrike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18.7W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IP interfaces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4544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tatic </a:t>
                          </a:r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routing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(IPv4, IPv6)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48026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DHCP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Server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Relay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Snooping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Installation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Wall-mount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</a:t>
                          </a:r>
                          <a:r>
                            <a:rPr lang="en-US" altLang="zh-CN" sz="9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Rackmount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FAN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7967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单端口平均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15.5W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，高于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EAP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端口可同事连接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 EAP;</a:t>
                          </a: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个非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端口可用于下连有线设备；</a:t>
                          </a:r>
                          <a:endParaRPr lang="en-US" altLang="zh-CN"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桌面型无风扇设计，部署灵活，可用于家用、办公等场景；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口，单端口平均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7.6W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，可满载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面板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AP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光口可满足长距离传输需求；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桌面型无风扇设计，部署灵活，可用于家用、办公等场景；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口，单端口平均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18.7W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，可满载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EAP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光口可满足长距离传输需求；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机架型设计，可满足中小型企业机架安装场景；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1877154"/>
                  </p:ext>
                </p:extLst>
              </p:nvPr>
            </p:nvGraphicFramePr>
            <p:xfrm>
              <a:off x="869131" y="1020282"/>
              <a:ext cx="10426200" cy="4113033"/>
            </p:xfrm>
            <a:graphic>
              <a:graphicData uri="http://schemas.openxmlformats.org/drawingml/2006/table">
                <a:tbl>
                  <a:tblPr firstRow="1" firstCol="1" bandRow="1">
                    <a:tableStyleId>{9D7B26C5-4107-4FEC-AEDC-1716B250A1EF}</a:tableStyleId>
                  </a:tblPr>
                  <a:tblGrid>
                    <a:gridCol w="23058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103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8050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3990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Vendor</a:t>
                          </a:r>
                          <a:endParaRPr lang="zh-CN" alt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1" i="0" u="none" strike="noStrike" dirty="0">
                              <a:solidFill>
                                <a:schemeClr val="bg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TP-Link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900" b="1" i="0" u="none" strike="noStrike" dirty="0">
                            <a:solidFill>
                              <a:schemeClr val="bg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4ECED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Model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SG2008P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v1/v2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SG2210P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v3.2/v4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SG2210MP 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v1/v2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5353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Ports</a:t>
                          </a: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* 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GE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8* GE + 2* SFP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SDN 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upport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CN" alt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6227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4 PoE+, 62W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PoE+,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61W</a:t>
                          </a:r>
                          <a:endParaRPr lang="en-US" altLang="zh-CN" sz="9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PoE+, 150W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384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Average PoE power</a:t>
                          </a:r>
                        </a:p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/</a:t>
                          </a:r>
                          <a:r>
                            <a:rPr 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port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1748" t="-491489" r="-223786" b="-85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367" t="-491489" r="-100000" b="-85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71957" t="-491489" r="-217" b="-85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2682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IP interfaces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4544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tatic </a:t>
                          </a:r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routing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32 (IPv4, IPv6)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4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48026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DHCP</a:t>
                          </a: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Server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Relay</a:t>
                          </a:r>
                        </a:p>
                        <a:p>
                          <a:pPr algn="ctr" fontAlgn="ctr"/>
                          <a:r>
                            <a:rPr lang="en-US" altLang="zh-CN" sz="9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DHCP Snooping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alpha val="2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Installation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Wall-mount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Desktop, </a:t>
                          </a:r>
                          <a:r>
                            <a:rPr lang="en-US" altLang="zh-CN" sz="900" b="0" i="0" u="none" strike="noStrike" dirty="0" err="1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Rackmount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89711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FAN</a:t>
                          </a:r>
                          <a:endParaRPr lang="en-US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79670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Features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3175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单端口平均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15.5W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，高于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EAP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，即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端口可同事连接</a:t>
                          </a:r>
                          <a:r>
                            <a:rPr lang="en-US" altLang="zh-CN" sz="900" b="0" i="0" u="none" strike="noStrike" baseline="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 EAP;</a:t>
                          </a: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4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个非</a:t>
                          </a:r>
                          <a:r>
                            <a:rPr lang="en-US" altLang="zh-CN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端口可用于下连有线设备；</a:t>
                          </a:r>
                          <a:endParaRPr lang="en-US" altLang="zh-CN" sz="900" b="0" i="0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桌面型无风扇设计，部署灵活，可用于家用、办公等场景；</a:t>
                          </a:r>
                          <a:endParaRPr lang="en-US" altLang="zh-CN" sz="9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口，单端口平均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7.6W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，可满载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面板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AP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光口可满足长距离传输需求；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桌面型无风扇设计，部署灵活，可用于家用、办公等场景；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228600" indent="-228600" algn="l">
                            <a:buAutoNum type="arabicPeriod"/>
                          </a:pP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8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个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口，单端口平均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PoE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功率为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18.7W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，可满载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11ac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EAP</a:t>
                          </a: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indent="-228600" algn="l">
                            <a:buAutoNum type="arabicPeriod"/>
                          </a:pPr>
                          <a:r>
                            <a:rPr lang="zh-CN" altLang="en-US" sz="900" b="0" i="0" u="none" strike="noStrike" kern="1200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光口可满足长距离传输需求；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228600" marR="0" indent="-2286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AutoNum type="arabicPeriod"/>
                            <a:tabLst/>
                            <a:defRPr/>
                          </a:pPr>
                          <a:r>
                            <a:rPr lang="zh-CN" altLang="en-US" sz="900" b="0" i="0" u="none" strike="noStrike" dirty="0" smtClean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机架型设计，可满足中小型企业机架安装场景；</a:t>
                          </a:r>
                          <a:endParaRPr lang="en-US" altLang="zh-CN" sz="900" b="0" i="0" u="none" strike="noStrike" kern="1200" dirty="0" smtClean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0" anchor="ctr">
                        <a:lnL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8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2F2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9903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>
          <a:xfrm>
            <a:off x="11422080" y="6441235"/>
            <a:ext cx="721243" cy="365125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solidFill>
                  <a:schemeClr val="bg1"/>
                </a:solidFill>
              </a:rPr>
              <a:t>33</a:t>
            </a:fld>
            <a:endParaRPr kumimoji="1"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122432"/>
              </p:ext>
            </p:extLst>
          </p:nvPr>
        </p:nvGraphicFramePr>
        <p:xfrm>
          <a:off x="789629" y="703429"/>
          <a:ext cx="10789345" cy="560990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894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6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8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8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TP-Link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NetGear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D-L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ink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Trendnet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ECE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Model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SL2428P v6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FS728TP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DES-1210-28P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TPE-224WS (C1.0R)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0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Ports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24* FE + 2* GE + 2* GE/SFP C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ombo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SDN 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upport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 PoE+,</a:t>
                      </a:r>
                      <a:r>
                        <a:rPr 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250W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 PoE,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192W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PoE, 4 PoE+, 193W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 PoE, 4 PoE+, 193W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MAC Address T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able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8K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Packet Buffer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bit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4.1 Mbit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QoS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VLAN G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8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Multicast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802.1x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92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75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LAG Groups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CN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Groups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5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0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 interfaces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876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tatic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routing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 (IPv4, IPv6)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888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DHCP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Server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Relay</a:t>
                      </a:r>
                    </a:p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DHCP Snooping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IPv6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269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Fan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(24 FE Smart Switch-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--- SL2428P</a:t>
            </a: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89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/>
          <p:cNvSpPr txBox="1"/>
          <p:nvPr/>
        </p:nvSpPr>
        <p:spPr>
          <a:xfrm>
            <a:off x="635729" y="47625"/>
            <a:ext cx="7631113" cy="628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Product comparison </a:t>
            </a:r>
            <a:r>
              <a:rPr lang="en-US" altLang="zh-CN" sz="2000" b="1" dirty="0" smtClean="0">
                <a:solidFill>
                  <a:srgbClr val="005564"/>
                </a:solidFill>
                <a:latin typeface="Arial" panose="020B0604020202020204" pitchFamily="34" charset="0"/>
                <a:ea typeface="TP-Link Aktiv" panose="020B0504020202020204" pitchFamily="34" charset="0"/>
                <a:cs typeface="Arial" panose="020B0604020202020204" pitchFamily="34" charset="0"/>
              </a:rPr>
              <a:t>(Hardware Controller---- OC400)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TP-Link Aktiv" panose="020B05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408951"/>
              </p:ext>
            </p:extLst>
          </p:nvPr>
        </p:nvGraphicFramePr>
        <p:xfrm>
          <a:off x="1567543" y="979715"/>
          <a:ext cx="8416212" cy="53837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72256">
                  <a:extLst>
                    <a:ext uri="{9D8B030D-6E8A-4147-A177-3AD203B41FA5}">
                      <a16:colId xmlns:a16="http://schemas.microsoft.com/office/drawing/2014/main" val="2900055591"/>
                    </a:ext>
                  </a:extLst>
                </a:gridCol>
                <a:gridCol w="3125344">
                  <a:extLst>
                    <a:ext uri="{9D8B030D-6E8A-4147-A177-3AD203B41FA5}">
                      <a16:colId xmlns:a16="http://schemas.microsoft.com/office/drawing/2014/main" val="752440014"/>
                    </a:ext>
                  </a:extLst>
                </a:gridCol>
                <a:gridCol w="3218612">
                  <a:extLst>
                    <a:ext uri="{9D8B030D-6E8A-4147-A177-3AD203B41FA5}">
                      <a16:colId xmlns:a16="http://schemas.microsoft.com/office/drawing/2014/main" val="3353396802"/>
                    </a:ext>
                  </a:extLst>
                </a:gridCol>
              </a:tblGrid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Omada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OC400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UBNT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CK-Enterprise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3885556157"/>
                  </a:ext>
                </a:extLst>
              </a:tr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 device type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Omada Networks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 Networks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2274309932"/>
                  </a:ext>
                </a:extLst>
              </a:tr>
              <a:tr h="538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 scale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 Omada EAPs + 200 Omada Switches + 100 Omada Routers;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30,000 Clients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1,000+ UniFi Network devices;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10,000+ clients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3567374568"/>
                  </a:ext>
                </a:extLst>
              </a:tr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Quad-Core A72 @ 2.2 GHz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16-core Intel® Xeon®-SP Gold 5218 @ 2.3 GHz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296024176"/>
                  </a:ext>
                </a:extLst>
              </a:tr>
              <a:tr h="2669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GB DDR4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 GB DDR4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3254310138"/>
                  </a:ext>
                </a:extLst>
              </a:tr>
              <a:tr h="253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MB Nor Flash + 32 GB Emmc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 GB M.2 2280 SATA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1017493898"/>
                  </a:ext>
                </a:extLst>
              </a:tr>
              <a:tr h="248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Management interface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1* GE RJ45 Console Port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1* GE RJ45 MGMT Port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1256607082"/>
                  </a:ext>
                </a:extLst>
              </a:tr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Networking interface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 10G SFP+ slot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4* GE RJ45 port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1* 10G SFP+ slot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1* GE RJ45 port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3719015940"/>
                  </a:ext>
                </a:extLst>
              </a:tr>
              <a:tr h="2621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 USB 3.0 for higher storage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2374360835"/>
                  </a:ext>
                </a:extLst>
              </a:tr>
              <a:tr h="2561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 (for instant setup)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92981540"/>
                  </a:ext>
                </a:extLst>
              </a:tr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centralized managed by cloud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√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881436857"/>
                  </a:ext>
                </a:extLst>
              </a:tr>
              <a:tr h="237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method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100—240V AC, 50/60 Hz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100—240V AC, 50/60 Hz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1340130022"/>
                  </a:ext>
                </a:extLst>
              </a:tr>
              <a:tr h="3551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supply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 internal fixed power supply modules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2* Hot-swappable power supply modules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1092128274"/>
                  </a:ext>
                </a:extLst>
              </a:tr>
              <a:tr h="1848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1* fixed FAN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FAN at power supply modules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3672194070"/>
                  </a:ext>
                </a:extLst>
              </a:tr>
              <a:tr h="247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Surge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4Kv protect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165004165"/>
                  </a:ext>
                </a:extLst>
              </a:tr>
              <a:tr h="2512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temperature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to 40 °C (32 to 104 °F)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to 35° C (32 to 95° F)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988216101"/>
                  </a:ext>
                </a:extLst>
              </a:tr>
              <a:tr h="2549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Dimensions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440 × 180 × 44 mm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481.4 × 787 × 43.7 mm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2381215551"/>
                  </a:ext>
                </a:extLst>
              </a:tr>
              <a:tr h="2500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endParaRPr lang="zh-CN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($4,999 at Unifi store)</a:t>
                      </a:r>
                      <a:endParaRPr lang="zh-CN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6243" marR="56243" marT="0" marB="0" anchor="ctr"/>
                </a:tc>
                <a:extLst>
                  <a:ext uri="{0D108BD9-81ED-4DB2-BD59-A6C34878D82A}">
                    <a16:rowId xmlns:a16="http://schemas.microsoft.com/office/drawing/2014/main" val="232815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223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956514" y="2427090"/>
            <a:ext cx="3556518" cy="2084227"/>
          </a:xfrm>
        </p:spPr>
        <p:txBody>
          <a:bodyPr/>
          <a:lstStyle/>
          <a:p>
            <a:r>
              <a:rPr lang="en-US" altLang="zh-CN" sz="3600" dirty="0">
                <a:solidFill>
                  <a:srgbClr val="005565"/>
                </a:solidFill>
                <a:ea typeface="Arial Unicode MS" panose="020B0604020202020204" pitchFamily="34" charset="-122"/>
              </a:rPr>
              <a:t>Business Networking</a:t>
            </a:r>
            <a:endParaRPr kumimoji="1" lang="zh-CN" altLang="en-US" sz="3600" dirty="0">
              <a:solidFill>
                <a:srgbClr val="005565"/>
              </a:solidFill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文本占位符 2"/>
          <p:cNvSpPr txBox="1"/>
          <p:nvPr/>
        </p:nvSpPr>
        <p:spPr>
          <a:xfrm>
            <a:off x="5952929" y="2096493"/>
            <a:ext cx="3350869" cy="164100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1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  <a:tabLst>
                <a:tab pos="3943350" algn="l"/>
              </a:tabLst>
            </a:pPr>
            <a:r>
              <a:rPr lang="en-US" altLang="zh-CN" sz="2400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  <a:sym typeface="+mn-ea"/>
              </a:rPr>
              <a:t>Switch</a:t>
            </a:r>
            <a:r>
              <a:rPr lang="zh-CN" altLang="en-US" sz="2400" dirty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竞品</a:t>
            </a:r>
            <a:r>
              <a:rPr lang="zh-CN" altLang="en-US" sz="2400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对比</a:t>
            </a:r>
            <a:endParaRPr lang="en-US" altLang="zh-CN" sz="2400" dirty="0" smtClean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</a:endParaRPr>
          </a:p>
          <a:p>
            <a:pPr marL="285750" lvl="1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  <a:tabLst>
                <a:tab pos="3943350" algn="l"/>
              </a:tabLst>
            </a:pPr>
            <a:endParaRPr lang="en-US" altLang="zh-CN" sz="2400" dirty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</a:endParaRPr>
          </a:p>
          <a:p>
            <a:pPr marL="285750" lvl="1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Ø"/>
              <a:tabLst>
                <a:tab pos="3943350" algn="l"/>
              </a:tabLst>
            </a:pPr>
            <a:r>
              <a:rPr lang="en-US" altLang="zh-CN" sz="2400" b="1" dirty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Router</a:t>
            </a:r>
            <a:r>
              <a:rPr lang="zh-CN" altLang="en-US" sz="2400" b="1" dirty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竞品</a:t>
            </a:r>
            <a:r>
              <a:rPr lang="zh-CN" altLang="en-US" sz="2400" b="1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</a:rPr>
              <a:t>对比</a:t>
            </a:r>
            <a:endParaRPr lang="en-US" altLang="zh-CN" sz="2400" b="1" dirty="0" smtClean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</a:endParaRPr>
          </a:p>
          <a:p>
            <a:pPr marL="0" lvl="1" indent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Clr>
                <a:schemeClr val="bg1">
                  <a:lumMod val="50000"/>
                </a:schemeClr>
              </a:buClr>
              <a:buNone/>
              <a:tabLst>
                <a:tab pos="3943350" algn="l"/>
              </a:tabLst>
            </a:pPr>
            <a:r>
              <a:rPr lang="en-US" altLang="zh-CN" sz="2400" dirty="0" smtClean="0">
                <a:solidFill>
                  <a:srgbClr val="005565"/>
                </a:solidFill>
                <a:latin typeface="TP-Link Aktiv Light" panose="020B0604020202020204" charset="0"/>
                <a:ea typeface="TP-Link Aktiv" panose="020B0504020202020204" pitchFamily="34" charset="0"/>
                <a:cs typeface="TP-Link Aktiv Light" panose="020B0604020202020204" charset="0"/>
                <a:sym typeface="+mn-ea"/>
              </a:rPr>
              <a:t>		</a:t>
            </a:r>
            <a:endParaRPr lang="en-US" altLang="zh-CN" sz="2400" dirty="0">
              <a:solidFill>
                <a:srgbClr val="005565"/>
              </a:solidFill>
              <a:latin typeface="TP-Link Aktiv Light" panose="020B0604020202020204" charset="0"/>
              <a:ea typeface="TP-Link Aktiv" panose="020B0504020202020204" pitchFamily="34" charset="0"/>
              <a:cs typeface="TP-Link Aktiv Light" panose="020B0604020202020204" charset="0"/>
              <a:sym typeface="+mn-ea"/>
            </a:endParaRPr>
          </a:p>
        </p:txBody>
      </p:sp>
      <p:sp>
        <p:nvSpPr>
          <p:cNvPr id="7" name="灯片编号占位符 16"/>
          <p:cNvSpPr txBox="1"/>
          <p:nvPr/>
        </p:nvSpPr>
        <p:spPr>
          <a:xfrm>
            <a:off x="11422080" y="6450760"/>
            <a:ext cx="72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45E168-1219-CD4A-80ED-4291B526AB8C}" type="slidenum">
              <a:rPr kumimoji="1" lang="zh-CN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kumimoji="1" lang="zh-CN" alt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" y="0"/>
            <a:ext cx="5172892" cy="6858000"/>
          </a:xfrm>
          <a:prstGeom prst="rect">
            <a:avLst/>
          </a:prstGeom>
        </p:spPr>
      </p:pic>
      <p:sp>
        <p:nvSpPr>
          <p:cNvPr id="10" name="标题 1"/>
          <p:cNvSpPr txBox="1">
            <a:spLocks/>
          </p:cNvSpPr>
          <p:nvPr/>
        </p:nvSpPr>
        <p:spPr>
          <a:xfrm>
            <a:off x="382397" y="4444489"/>
            <a:ext cx="31941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200" b="1" i="0" kern="1200">
                <a:solidFill>
                  <a:schemeClr val="bg1"/>
                </a:solidFill>
                <a:latin typeface="TP-Link Aktiv" panose="020B0504020202020204" pitchFamily="34" charset="0"/>
                <a:ea typeface="TP-Link Aktiv" panose="020B0504020202020204" pitchFamily="34" charset="0"/>
                <a:cs typeface="TP-Link Aktiv" panose="020B0504020202020204" pitchFamily="34" charset="0"/>
              </a:defRPr>
            </a:lvl1pPr>
          </a:lstStyle>
          <a:p>
            <a:r>
              <a:rPr kumimoji="1" lang="en-US" altLang="zh-CN" dirty="0" smtClean="0"/>
              <a:t>Contents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4148" y="261809"/>
            <a:ext cx="990600" cy="36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6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27068" y="6506426"/>
            <a:ext cx="540932" cy="273844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pPr/>
              <a:t>36</a:t>
            </a:fld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标题 2">
            <a:extLst>
              <a:ext uri="{FF2B5EF4-FFF2-40B4-BE49-F238E27FC236}">
                <a16:creationId xmlns:a16="http://schemas.microsoft.com/office/drawing/2014/main" id="{34C67379-6090-4975-BE35-43B9955EA2FF}"/>
              </a:ext>
            </a:extLst>
          </p:cNvPr>
          <p:cNvSpPr txBox="1"/>
          <p:nvPr/>
        </p:nvSpPr>
        <p:spPr>
          <a:xfrm>
            <a:off x="694571" y="202414"/>
            <a:ext cx="6078001" cy="4714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ER605 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v2 </a:t>
            </a:r>
            <a:r>
              <a:rPr lang="en-US" altLang="zh-CN" sz="2000" b="1" i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vs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MikroTik </a:t>
            </a:r>
            <a:r>
              <a:rPr lang="en-US" altLang="zh-CN" sz="2000" b="1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hEX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FC7BF3-0989-461E-B3F3-485842F0B59E}"/>
              </a:ext>
            </a:extLst>
          </p:cNvPr>
          <p:cNvSpPr txBox="1"/>
          <p:nvPr/>
        </p:nvSpPr>
        <p:spPr>
          <a:xfrm>
            <a:off x="556202" y="815944"/>
            <a:ext cx="9958683" cy="316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主要用于家用、小微企业商用场景，功能可覆盖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General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场景的需求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kumimoji="1" lang="en-US" altLang="zh-CN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8989" y="1775533"/>
          <a:ext cx="10449018" cy="419674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7780">
                  <a:extLst>
                    <a:ext uri="{9D8B030D-6E8A-4147-A177-3AD203B41FA5}">
                      <a16:colId xmlns:a16="http://schemas.microsoft.com/office/drawing/2014/main" val="4061896914"/>
                    </a:ext>
                  </a:extLst>
                </a:gridCol>
                <a:gridCol w="1064012">
                  <a:extLst>
                    <a:ext uri="{9D8B030D-6E8A-4147-A177-3AD203B41FA5}">
                      <a16:colId xmlns:a16="http://schemas.microsoft.com/office/drawing/2014/main" val="2005923441"/>
                    </a:ext>
                  </a:extLst>
                </a:gridCol>
                <a:gridCol w="2805742">
                  <a:extLst>
                    <a:ext uri="{9D8B030D-6E8A-4147-A177-3AD203B41FA5}">
                      <a16:colId xmlns:a16="http://schemas.microsoft.com/office/drawing/2014/main" val="2688160513"/>
                    </a:ext>
                  </a:extLst>
                </a:gridCol>
                <a:gridCol w="2805742">
                  <a:extLst>
                    <a:ext uri="{9D8B030D-6E8A-4147-A177-3AD203B41FA5}">
                      <a16:colId xmlns:a16="http://schemas.microsoft.com/office/drawing/2014/main" val="845811315"/>
                    </a:ext>
                  </a:extLst>
                </a:gridCol>
                <a:gridCol w="2805742">
                  <a:extLst>
                    <a:ext uri="{9D8B030D-6E8A-4147-A177-3AD203B41FA5}">
                      <a16:colId xmlns:a16="http://schemas.microsoft.com/office/drawing/2014/main" val="2044699607"/>
                    </a:ext>
                  </a:extLst>
                </a:gridCol>
              </a:tblGrid>
              <a:tr h="367070">
                <a:tc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优劣势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项目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ER605 v2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RB750Gr3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备注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3903258"/>
                  </a:ext>
                </a:extLst>
              </a:tr>
              <a:tr h="209755">
                <a:tc rowSpan="9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优势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SDN</a:t>
                      </a:r>
                      <a:r>
                        <a:rPr lang="zh-CN" sz="1000" kern="100" dirty="0">
                          <a:effectLst/>
                        </a:rPr>
                        <a:t>管理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√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配置、运维更方便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233355"/>
                  </a:ext>
                </a:extLst>
              </a:tr>
              <a:tr h="209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一键</a:t>
                      </a:r>
                      <a:r>
                        <a:rPr lang="en-US" sz="1000" kern="100" dirty="0">
                          <a:effectLst/>
                        </a:rPr>
                        <a:t>VPN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√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×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VPN</a:t>
                      </a:r>
                      <a:r>
                        <a:rPr lang="zh-CN" sz="1000" kern="100">
                          <a:effectLst/>
                        </a:rPr>
                        <a:t>配置更方便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5580824"/>
                  </a:ext>
                </a:extLst>
              </a:tr>
              <a:tr h="2270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TCP</a:t>
                      </a:r>
                      <a:r>
                        <a:rPr lang="zh-CN" sz="1000" kern="100" dirty="0">
                          <a:effectLst/>
                        </a:rPr>
                        <a:t>性能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ER605 v2</a:t>
                      </a:r>
                      <a:r>
                        <a:rPr lang="zh-CN" sz="1000" kern="100" dirty="0">
                          <a:effectLst/>
                        </a:rPr>
                        <a:t>优于</a:t>
                      </a:r>
                      <a:r>
                        <a:rPr lang="en-US" sz="1000" kern="100" dirty="0">
                          <a:effectLst/>
                        </a:rPr>
                        <a:t>RB750Gr3</a:t>
                      </a:r>
                      <a:r>
                        <a:rPr lang="zh-CN" sz="1000" kern="100" dirty="0">
                          <a:effectLst/>
                        </a:rPr>
                        <a:t>（各种拨号方式下双向</a:t>
                      </a:r>
                      <a:r>
                        <a:rPr lang="en-US" sz="1000" kern="100" dirty="0">
                          <a:effectLst/>
                        </a:rPr>
                        <a:t>TCP</a:t>
                      </a:r>
                      <a:r>
                        <a:rPr lang="zh-CN" sz="1000" kern="100" dirty="0">
                          <a:effectLst/>
                        </a:rPr>
                        <a:t>性能均比竞品高</a:t>
                      </a:r>
                      <a:r>
                        <a:rPr lang="en-US" sz="1000" kern="100" dirty="0">
                          <a:effectLst/>
                        </a:rPr>
                        <a:t>700 Mbps</a:t>
                      </a:r>
                      <a:r>
                        <a:rPr lang="zh-CN" sz="1000" kern="100" dirty="0">
                          <a:effectLst/>
                        </a:rPr>
                        <a:t>左右）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-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0590129"/>
                  </a:ext>
                </a:extLst>
              </a:tr>
              <a:tr h="46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UDP</a:t>
                      </a:r>
                      <a:r>
                        <a:rPr lang="zh-CN" sz="1000" kern="100" dirty="0">
                          <a:effectLst/>
                        </a:rPr>
                        <a:t>报文转发率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ER605 v2</a:t>
                      </a:r>
                      <a:r>
                        <a:rPr lang="zh-CN" sz="1000" kern="100" dirty="0">
                          <a:effectLst/>
                        </a:rPr>
                        <a:t>优于</a:t>
                      </a:r>
                      <a:r>
                        <a:rPr lang="en-US" sz="1000" kern="100" dirty="0">
                          <a:effectLst/>
                        </a:rPr>
                        <a:t>RB750Gr3</a:t>
                      </a:r>
                      <a:r>
                        <a:rPr lang="zh-CN" sz="1000" kern="100" dirty="0">
                          <a:effectLst/>
                        </a:rPr>
                        <a:t>（比竞品高</a:t>
                      </a:r>
                      <a:r>
                        <a:rPr lang="en-US" sz="1000" kern="100" dirty="0">
                          <a:effectLst/>
                        </a:rPr>
                        <a:t>750Mbps</a:t>
                      </a:r>
                      <a:r>
                        <a:rPr lang="zh-CN" sz="1000" kern="100" dirty="0">
                          <a:effectLst/>
                        </a:rPr>
                        <a:t>左右）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-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4487421"/>
                  </a:ext>
                </a:extLst>
              </a:tr>
              <a:tr h="4648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PPTP/L2TP VPN</a:t>
                      </a:r>
                      <a:r>
                        <a:rPr lang="zh-CN" sz="1000" kern="100" dirty="0">
                          <a:effectLst/>
                        </a:rPr>
                        <a:t>性能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ER605 v2</a:t>
                      </a:r>
                      <a:r>
                        <a:rPr lang="zh-CN" sz="1000" kern="100" dirty="0">
                          <a:effectLst/>
                        </a:rPr>
                        <a:t>的</a:t>
                      </a:r>
                      <a:r>
                        <a:rPr lang="en-US" sz="1000" kern="100" dirty="0">
                          <a:effectLst/>
                        </a:rPr>
                        <a:t>PPTP/L2TP VPN throughput</a:t>
                      </a:r>
                      <a:r>
                        <a:rPr lang="zh-CN" sz="1000" kern="100" dirty="0">
                          <a:effectLst/>
                        </a:rPr>
                        <a:t>和稳定性优于竞品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-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5879315"/>
                  </a:ext>
                </a:extLst>
              </a:tr>
              <a:tr h="32930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</a:rPr>
                        <a:t>IPSec</a:t>
                      </a:r>
                      <a:r>
                        <a:rPr lang="en-US" sz="1000" kern="100" dirty="0">
                          <a:effectLst/>
                        </a:rPr>
                        <a:t> VPN</a:t>
                      </a:r>
                      <a:r>
                        <a:rPr lang="zh-CN" sz="1000" kern="100" dirty="0">
                          <a:effectLst/>
                        </a:rPr>
                        <a:t>性能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SH1</a:t>
                      </a:r>
                      <a:r>
                        <a:rPr lang="zh-CN" sz="1000" kern="100" dirty="0">
                          <a:effectLst/>
                        </a:rPr>
                        <a:t>加密下的</a:t>
                      </a:r>
                      <a:r>
                        <a:rPr lang="en-US" sz="1000" kern="100" dirty="0" err="1">
                          <a:effectLst/>
                        </a:rPr>
                        <a:t>IPSec</a:t>
                      </a:r>
                      <a:r>
                        <a:rPr lang="en-US" sz="1000" kern="100" dirty="0">
                          <a:effectLst/>
                        </a:rPr>
                        <a:t> VPN</a:t>
                      </a:r>
                      <a:r>
                        <a:rPr lang="zh-CN" sz="1000" kern="100" dirty="0">
                          <a:effectLst/>
                        </a:rPr>
                        <a:t>性能与竞品相当，但</a:t>
                      </a:r>
                      <a:r>
                        <a:rPr lang="en-US" sz="1000" kern="100" dirty="0" err="1">
                          <a:effectLst/>
                        </a:rPr>
                        <a:t>IPSec</a:t>
                      </a:r>
                      <a:r>
                        <a:rPr lang="zh-CN" sz="1000" kern="100" dirty="0">
                          <a:effectLst/>
                        </a:rPr>
                        <a:t>加密算法比竞品多了</a:t>
                      </a:r>
                      <a:r>
                        <a:rPr lang="en-US" sz="1000" kern="100" dirty="0">
                          <a:effectLst/>
                        </a:rPr>
                        <a:t>SHA2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新增的</a:t>
                      </a:r>
                      <a:r>
                        <a:rPr lang="en-US" sz="1000" kern="100">
                          <a:effectLst/>
                        </a:rPr>
                        <a:t>SHA2</a:t>
                      </a:r>
                      <a:r>
                        <a:rPr lang="zh-CN" sz="1000" kern="100">
                          <a:effectLst/>
                        </a:rPr>
                        <a:t>增强了</a:t>
                      </a:r>
                      <a:r>
                        <a:rPr lang="en-US" sz="1000" kern="100">
                          <a:effectLst/>
                        </a:rPr>
                        <a:t>IPSec VPN</a:t>
                      </a:r>
                      <a:r>
                        <a:rPr lang="zh-CN" sz="1000" kern="100">
                          <a:effectLst/>
                        </a:rPr>
                        <a:t>的安全性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1568722"/>
                  </a:ext>
                </a:extLst>
              </a:tr>
              <a:tr h="24602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UI</a:t>
                      </a:r>
                      <a:r>
                        <a:rPr lang="zh-CN" sz="1100" kern="100" dirty="0">
                          <a:effectLst/>
                        </a:rPr>
                        <a:t>界面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ER605 V2</a:t>
                      </a:r>
                      <a:r>
                        <a:rPr lang="zh-CN" sz="1100" kern="100" dirty="0">
                          <a:effectLst/>
                        </a:rPr>
                        <a:t>的</a:t>
                      </a:r>
                      <a:r>
                        <a:rPr lang="en-US" sz="1100" kern="100" dirty="0">
                          <a:effectLst/>
                        </a:rPr>
                        <a:t>UI</a:t>
                      </a:r>
                      <a:r>
                        <a:rPr lang="zh-CN" sz="1100" kern="100" dirty="0">
                          <a:effectLst/>
                        </a:rPr>
                        <a:t>界面更友好易用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降低配置难度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4975768"/>
                  </a:ext>
                </a:extLst>
              </a:tr>
              <a:tr h="209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Flash</a:t>
                      </a:r>
                      <a:r>
                        <a:rPr lang="zh-CN" sz="1000" kern="100" dirty="0">
                          <a:effectLst/>
                        </a:rPr>
                        <a:t>容量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128 MB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16 MB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ER605 v2</a:t>
                      </a:r>
                      <a:r>
                        <a:rPr lang="zh-CN" sz="1000" kern="100">
                          <a:effectLst/>
                        </a:rPr>
                        <a:t>支持双固件，产品稳定性更好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1233233"/>
                  </a:ext>
                </a:extLst>
              </a:tr>
              <a:tr h="209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壳体材质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钢壳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塑壳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钢壳稳定性好，散热性能好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9683258"/>
                  </a:ext>
                </a:extLst>
              </a:tr>
              <a:tr h="629263">
                <a:tc rowSpan="2">
                  <a:txBody>
                    <a:bodyPr/>
                    <a:lstStyle/>
                    <a:p>
                      <a:pPr indent="26670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劣势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连接数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150000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236000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在</a:t>
                      </a:r>
                      <a:r>
                        <a:rPr lang="en-US" sz="1000" kern="100">
                          <a:effectLst/>
                        </a:rPr>
                        <a:t>P2P</a:t>
                      </a:r>
                      <a:r>
                        <a:rPr lang="zh-CN" sz="1000" kern="100">
                          <a:effectLst/>
                        </a:rPr>
                        <a:t>下载等高连接数的应用场景下可能影响最大并发带机量，但工厂实际网络测试中，峰值带机量</a:t>
                      </a:r>
                      <a:r>
                        <a:rPr lang="en-US" sz="1000" kern="100">
                          <a:effectLst/>
                        </a:rPr>
                        <a:t>200-300</a:t>
                      </a:r>
                      <a:r>
                        <a:rPr lang="zh-CN" sz="1000" kern="100">
                          <a:effectLst/>
                        </a:rPr>
                        <a:t>，符合产品定位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893521"/>
                  </a:ext>
                </a:extLst>
              </a:tr>
              <a:tr h="6292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三层功能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静态路由，</a:t>
                      </a:r>
                      <a:r>
                        <a:rPr lang="en-US" sz="1000" kern="100">
                          <a:effectLst/>
                        </a:rPr>
                        <a:t>RIP, OSPF, DHCP</a:t>
                      </a:r>
                      <a:endParaRPr lang="zh-CN" sz="105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含有动态路由和</a:t>
                      </a:r>
                      <a:r>
                        <a:rPr lang="en-US" sz="1000" kern="100" dirty="0">
                          <a:effectLst/>
                        </a:rPr>
                        <a:t>MPLS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竞品的强三层功能需要单独付费购买</a:t>
                      </a:r>
                      <a:r>
                        <a:rPr lang="en-US" sz="1000" kern="100" dirty="0">
                          <a:effectLst/>
                        </a:rPr>
                        <a:t>License</a:t>
                      </a:r>
                      <a:r>
                        <a:rPr lang="zh-CN" sz="1000" kern="100" dirty="0">
                          <a:effectLst/>
                        </a:rPr>
                        <a:t>才能使用。由于产品定位，</a:t>
                      </a:r>
                      <a:r>
                        <a:rPr lang="en-US" sz="1000" kern="100" dirty="0">
                          <a:effectLst/>
                        </a:rPr>
                        <a:t>MPLS</a:t>
                      </a:r>
                      <a:r>
                        <a:rPr lang="zh-CN" sz="1000" kern="100" dirty="0">
                          <a:effectLst/>
                        </a:rPr>
                        <a:t>功能暂无规划</a:t>
                      </a:r>
                      <a:endParaRPr lang="zh-CN" sz="105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172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60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516048" y="2015620"/>
          <a:ext cx="6563761" cy="20480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7288">
                  <a:extLst>
                    <a:ext uri="{9D8B030D-6E8A-4147-A177-3AD203B41FA5}">
                      <a16:colId xmlns:a16="http://schemas.microsoft.com/office/drawing/2014/main" val="3555371348"/>
                    </a:ext>
                  </a:extLst>
                </a:gridCol>
                <a:gridCol w="585595">
                  <a:extLst>
                    <a:ext uri="{9D8B030D-6E8A-4147-A177-3AD203B41FA5}">
                      <a16:colId xmlns:a16="http://schemas.microsoft.com/office/drawing/2014/main" val="593297266"/>
                    </a:ext>
                  </a:extLst>
                </a:gridCol>
                <a:gridCol w="674708">
                  <a:extLst>
                    <a:ext uri="{9D8B030D-6E8A-4147-A177-3AD203B41FA5}">
                      <a16:colId xmlns:a16="http://schemas.microsoft.com/office/drawing/2014/main" val="3628253961"/>
                    </a:ext>
                  </a:extLst>
                </a:gridCol>
                <a:gridCol w="772731">
                  <a:extLst>
                    <a:ext uri="{9D8B030D-6E8A-4147-A177-3AD203B41FA5}">
                      <a16:colId xmlns:a16="http://schemas.microsoft.com/office/drawing/2014/main" val="1912662828"/>
                    </a:ext>
                  </a:extLst>
                </a:gridCol>
                <a:gridCol w="772731">
                  <a:extLst>
                    <a:ext uri="{9D8B030D-6E8A-4147-A177-3AD203B41FA5}">
                      <a16:colId xmlns:a16="http://schemas.microsoft.com/office/drawing/2014/main" val="3146314549"/>
                    </a:ext>
                  </a:extLst>
                </a:gridCol>
                <a:gridCol w="593870">
                  <a:extLst>
                    <a:ext uri="{9D8B030D-6E8A-4147-A177-3AD203B41FA5}">
                      <a16:colId xmlns:a16="http://schemas.microsoft.com/office/drawing/2014/main" val="4150991544"/>
                    </a:ext>
                  </a:extLst>
                </a:gridCol>
                <a:gridCol w="759364">
                  <a:extLst>
                    <a:ext uri="{9D8B030D-6E8A-4147-A177-3AD203B41FA5}">
                      <a16:colId xmlns:a16="http://schemas.microsoft.com/office/drawing/2014/main" val="648213100"/>
                    </a:ext>
                  </a:extLst>
                </a:gridCol>
                <a:gridCol w="793737">
                  <a:extLst>
                    <a:ext uri="{9D8B030D-6E8A-4147-A177-3AD203B41FA5}">
                      <a16:colId xmlns:a16="http://schemas.microsoft.com/office/drawing/2014/main" val="2236494529"/>
                    </a:ext>
                  </a:extLst>
                </a:gridCol>
                <a:gridCol w="793737">
                  <a:extLst>
                    <a:ext uri="{9D8B030D-6E8A-4147-A177-3AD203B41FA5}">
                      <a16:colId xmlns:a16="http://schemas.microsoft.com/office/drawing/2014/main" val="3851879984"/>
                    </a:ext>
                  </a:extLst>
                </a:gridCol>
              </a:tblGrid>
              <a:tr h="31912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机型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Static IP</a:t>
                      </a:r>
                      <a:r>
                        <a:rPr lang="zh-CN" sz="1000" kern="100" dirty="0">
                          <a:effectLst/>
                        </a:rPr>
                        <a:t>（</a:t>
                      </a:r>
                      <a:r>
                        <a:rPr lang="en-US" sz="1000" kern="100" dirty="0">
                          <a:effectLst/>
                        </a:rPr>
                        <a:t>Mbps</a:t>
                      </a:r>
                      <a:r>
                        <a:rPr lang="zh-CN" sz="1000" kern="100" dirty="0">
                          <a:effectLst/>
                        </a:rPr>
                        <a:t>）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DHCP</a:t>
                      </a:r>
                      <a:r>
                        <a:rPr lang="zh-CN" sz="1000" kern="100" dirty="0">
                          <a:effectLst/>
                        </a:rPr>
                        <a:t>（</a:t>
                      </a:r>
                      <a:r>
                        <a:rPr lang="en-US" sz="1000" kern="100" dirty="0">
                          <a:effectLst/>
                        </a:rPr>
                        <a:t>Mbps</a:t>
                      </a:r>
                      <a:r>
                        <a:rPr lang="zh-CN" sz="1000" kern="100" dirty="0">
                          <a:effectLst/>
                        </a:rPr>
                        <a:t>）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202747"/>
                  </a:ext>
                </a:extLst>
              </a:tr>
              <a:tr h="75697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上行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下行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双向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双</a:t>
                      </a:r>
                      <a:r>
                        <a:rPr lang="en-US" sz="1000" kern="100" dirty="0">
                          <a:effectLst/>
                        </a:rPr>
                        <a:t>LAN/ WAN</a:t>
                      </a:r>
                      <a:r>
                        <a:rPr lang="zh-CN" sz="1000" kern="100" dirty="0">
                          <a:effectLst/>
                        </a:rPr>
                        <a:t>双向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</a:rPr>
                        <a:t>下行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</a:rPr>
                        <a:t>双</a:t>
                      </a:r>
                      <a:r>
                        <a:rPr lang="en-US" sz="1000" kern="100">
                          <a:effectLst/>
                        </a:rPr>
                        <a:t>LAN/</a:t>
                      </a:r>
                      <a:endParaRPr lang="zh-CN" sz="110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WAN</a:t>
                      </a:r>
                      <a:r>
                        <a:rPr lang="zh-CN" sz="100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4642327"/>
                  </a:ext>
                </a:extLst>
              </a:tr>
              <a:tr h="3239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ER605 v2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945.77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945.56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1808.29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1535.77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945.93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945.43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1808.11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1580.52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6838577"/>
                  </a:ext>
                </a:extLst>
              </a:tr>
              <a:tr h="3239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ER605 v1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944.73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945.37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1816.48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1283.92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945.13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945.21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1729.48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1275.76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7572279"/>
                  </a:ext>
                </a:extLst>
              </a:tr>
              <a:tr h="3239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RB750Gr3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934.55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934.36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767.05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1377.23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932.39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</a:rPr>
                        <a:t>936.76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774.94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1359.10 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6029605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822575" y="34575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22575" y="77914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85456" y="760355"/>
            <a:ext cx="10034259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ER605 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v2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的单向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TCP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性能和竞品基本一致，双向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TCP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性能高于竞品至少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700Mbps;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ER605 v2</a:t>
            </a:r>
            <a:r>
              <a:rPr kumimoji="1" lang="zh-CN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单双向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UDP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报文转发性能均优于竞品，且小包下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ER605 v2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的包转发速率比竞品高近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750Mbps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，优势</a:t>
            </a:r>
            <a:r>
              <a:rPr kumimoji="1" lang="zh-CN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显著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ER605 v2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PPTP/L2TP 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性能优于竞品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SHA1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加密方式下的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IPSec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性能与竞品相当，但比竞品多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了</a:t>
            </a:r>
            <a:r>
              <a:rPr kumimoji="1" lang="en-US" altLang="zh-CN" sz="1100" dirty="0" err="1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IPSec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VPN SHA2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加密算法及</a:t>
            </a:r>
            <a:r>
              <a:rPr kumimoji="1" lang="en-US" altLang="zh-CN" sz="1100" dirty="0" err="1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OpenVPN</a:t>
            </a:r>
            <a:endParaRPr kumimoji="1" lang="zh-CN" altLang="en-US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6048" y="170784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【TCP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4" name="矩形 13"/>
          <p:cNvSpPr/>
          <p:nvPr/>
        </p:nvSpPr>
        <p:spPr>
          <a:xfrm>
            <a:off x="516048" y="4603998"/>
            <a:ext cx="1282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【UDP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5" name="标题 2">
            <a:extLst>
              <a:ext uri="{FF2B5EF4-FFF2-40B4-BE49-F238E27FC236}">
                <a16:creationId xmlns:a16="http://schemas.microsoft.com/office/drawing/2014/main" id="{34C67379-6090-4975-BE35-43B9955EA2FF}"/>
              </a:ext>
            </a:extLst>
          </p:cNvPr>
          <p:cNvSpPr txBox="1"/>
          <p:nvPr/>
        </p:nvSpPr>
        <p:spPr>
          <a:xfrm>
            <a:off x="694571" y="202414"/>
            <a:ext cx="6078001" cy="4714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ER605 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v2 </a:t>
            </a:r>
            <a:r>
              <a:rPr lang="en-US" altLang="zh-CN" sz="2000" b="1" i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vs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MikroTik </a:t>
            </a:r>
            <a:r>
              <a:rPr lang="en-US" altLang="zh-CN" sz="2000" b="1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hEX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/>
          </p:nvPr>
        </p:nvGraphicFramePr>
        <p:xfrm>
          <a:off x="585456" y="4930807"/>
          <a:ext cx="6494350" cy="1302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435">
                  <a:extLst>
                    <a:ext uri="{9D8B030D-6E8A-4147-A177-3AD203B41FA5}">
                      <a16:colId xmlns:a16="http://schemas.microsoft.com/office/drawing/2014/main" val="2792428017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3797002453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2991888787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1925961823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280646339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1954986756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1334263953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3439641931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233495254"/>
                    </a:ext>
                  </a:extLst>
                </a:gridCol>
                <a:gridCol w="649435">
                  <a:extLst>
                    <a:ext uri="{9D8B030D-6E8A-4147-A177-3AD203B41FA5}">
                      <a16:colId xmlns:a16="http://schemas.microsoft.com/office/drawing/2014/main" val="597819873"/>
                    </a:ext>
                  </a:extLst>
                </a:gridCol>
              </a:tblGrid>
              <a:tr h="24694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机型</a:t>
                      </a: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上行（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Mbps）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下行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Mbps)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双向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Mbps)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708714"/>
                  </a:ext>
                </a:extLst>
              </a:tr>
              <a:tr h="2469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1518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Imix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1518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Imix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1518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Imix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4814922"/>
                  </a:ext>
                </a:extLst>
              </a:tr>
              <a:tr h="246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ER605 v2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954.4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989.1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954.5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989.7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1130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1965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1824.4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078272"/>
                  </a:ext>
                </a:extLst>
              </a:tr>
              <a:tr h="246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ER605 v1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949.6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989.7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950.1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989.5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1062.4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1920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1764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79774056"/>
                  </a:ext>
                </a:extLst>
              </a:tr>
              <a:tr h="2469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RB750Gr3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855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655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248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970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6106365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7237242" y="2026031"/>
          <a:ext cx="4876296" cy="42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66424">
                  <a:extLst>
                    <a:ext uri="{9D8B030D-6E8A-4147-A177-3AD203B41FA5}">
                      <a16:colId xmlns:a16="http://schemas.microsoft.com/office/drawing/2014/main" val="3933961998"/>
                    </a:ext>
                  </a:extLst>
                </a:gridCol>
                <a:gridCol w="1066424">
                  <a:extLst>
                    <a:ext uri="{9D8B030D-6E8A-4147-A177-3AD203B41FA5}">
                      <a16:colId xmlns:a16="http://schemas.microsoft.com/office/drawing/2014/main" val="4083227226"/>
                    </a:ext>
                  </a:extLst>
                </a:gridCol>
                <a:gridCol w="865256">
                  <a:extLst>
                    <a:ext uri="{9D8B030D-6E8A-4147-A177-3AD203B41FA5}">
                      <a16:colId xmlns:a16="http://schemas.microsoft.com/office/drawing/2014/main" val="1797691295"/>
                    </a:ext>
                  </a:extLst>
                </a:gridCol>
                <a:gridCol w="939096">
                  <a:extLst>
                    <a:ext uri="{9D8B030D-6E8A-4147-A177-3AD203B41FA5}">
                      <a16:colId xmlns:a16="http://schemas.microsoft.com/office/drawing/2014/main" val="521822892"/>
                    </a:ext>
                  </a:extLst>
                </a:gridCol>
                <a:gridCol w="939096">
                  <a:extLst>
                    <a:ext uri="{9D8B030D-6E8A-4147-A177-3AD203B41FA5}">
                      <a16:colId xmlns:a16="http://schemas.microsoft.com/office/drawing/2014/main" val="2717514411"/>
                    </a:ext>
                  </a:extLst>
                </a:gridCol>
              </a:tblGrid>
              <a:tr h="182490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VPN</a:t>
                      </a:r>
                      <a:r>
                        <a:rPr lang="zh-CN" sz="900">
                          <a:effectLst/>
                        </a:rPr>
                        <a:t>性能数据</a:t>
                      </a:r>
                      <a:r>
                        <a:rPr lang="en-US" sz="900">
                          <a:effectLst/>
                        </a:rPr>
                        <a:t> (Mbps)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450933"/>
                  </a:ext>
                </a:extLst>
              </a:tr>
              <a:tr h="18249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VPN</a:t>
                      </a:r>
                      <a:r>
                        <a:rPr lang="zh-CN" sz="900">
                          <a:effectLst/>
                        </a:rPr>
                        <a:t>类型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900">
                          <a:effectLst/>
                        </a:rPr>
                        <a:t>加密算法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ER605v2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ER605v1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RB750G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074258308"/>
                  </a:ext>
                </a:extLst>
              </a:tr>
              <a:tr h="192095">
                <a:tc rowSpan="15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IPSEC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esp-md5-des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132.3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34.7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49.8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3356521143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esp-md5-3des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142.8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18.7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238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976754001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esp-md5-aes128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192.7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41.1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234.9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864018045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esp-md5-aes192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193.5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37.6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233.3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30158642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esp-md5-aes256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171.3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36.9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233.6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353213850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esp-sha1-des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250.1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44.8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622897095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esp-sha1-3des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234.8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20.1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235.8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553464112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esp-sha1-aes128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233.9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40.6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234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4107993879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esp-sha1-aes192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240.8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39.8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237.13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448573760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esp-sha1-aes256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224.9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34.9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232.1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468263954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esp-sha2-des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233.4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N/A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838676653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esp-sha2-3des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251.3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536029776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esp-sha2-aes128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241.2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25333773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esp-sha2-aes192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252.9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399357787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esp-sha2-aes256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248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N/A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4143716555"/>
                  </a:ext>
                </a:extLst>
              </a:tr>
              <a:tr h="19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L2TP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Unencrypted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864.6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684.3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317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202550667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Encrypted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47.1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127.4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150066350"/>
                  </a:ext>
                </a:extLst>
              </a:tr>
              <a:tr h="19209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PPTP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Unencrypted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703.2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783.9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327.4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3732485715"/>
                  </a:ext>
                </a:extLst>
              </a:tr>
              <a:tr h="1920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Encrypted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76.6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63.2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115.2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3305685959"/>
                  </a:ext>
                </a:extLst>
              </a:tr>
              <a:tr h="1920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OpenVPN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/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N/A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11" marR="62911" marT="0" marB="0" anchor="ctr"/>
                </a:tc>
                <a:extLst>
                  <a:ext uri="{0D108BD9-81ED-4DB2-BD59-A6C34878D82A}">
                    <a16:rowId xmlns:a16="http://schemas.microsoft.com/office/drawing/2014/main" val="2664192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84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19447" y="5711667"/>
            <a:ext cx="540932" cy="273844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pPr/>
              <a:t>38</a:t>
            </a:fld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标题 2">
            <a:extLst>
              <a:ext uri="{FF2B5EF4-FFF2-40B4-BE49-F238E27FC236}">
                <a16:creationId xmlns:a16="http://schemas.microsoft.com/office/drawing/2014/main" id="{34C67379-6090-4975-BE35-43B9955EA2FF}"/>
              </a:ext>
            </a:extLst>
          </p:cNvPr>
          <p:cNvSpPr txBox="1"/>
          <p:nvPr/>
        </p:nvSpPr>
        <p:spPr>
          <a:xfrm>
            <a:off x="663309" y="197390"/>
            <a:ext cx="6078001" cy="4714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ER7206 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v1 </a:t>
            </a:r>
            <a:r>
              <a:rPr lang="en-US" altLang="zh-CN" sz="2000" b="1" i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vs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UBNT USG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863027" y="1401038"/>
          <a:ext cx="10726221" cy="51224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0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1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1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449">
                <a:tc gridSpan="2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1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对比项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TP-Link </a:t>
                      </a:r>
                      <a:r>
                        <a:rPr lang="en-US" sz="11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 ( ER7206)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UBNT USG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5">
                <a:tc rowSpan="12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优势项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CPU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2 Cores </a:t>
                      </a: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@1GHz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2 Cores </a:t>
                      </a: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@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500MHz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物理接口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1*</a:t>
                      </a:r>
                      <a:r>
                        <a:rPr lang="en-US" sz="1000" kern="100" baseline="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SFP</a:t>
                      </a:r>
                      <a:r>
                        <a:rPr 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；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5*</a:t>
                      </a:r>
                      <a:r>
                        <a:rPr lang="en-US" sz="1000" kern="100" baseline="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RJ45 GE;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3</a:t>
                      </a:r>
                      <a:r>
                        <a:rPr lang="en-US" alt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* </a:t>
                      </a: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RJ45</a:t>
                      </a:r>
                      <a:r>
                        <a:rPr lang="en-US" sz="1000" kern="100" baseline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000" kern="100" baseline="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GE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1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多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WAN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口和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Load balance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×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2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Routing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Static Routing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Policy Routing 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Link Backup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Static Routing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UDP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性能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l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的小包报文转发性能显著优于竞品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USG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5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PPTP VPN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的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PPTP VPN Throughput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为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115.63Mbps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（加密），而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USG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的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PPTP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隧道无法建立稳定连接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5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L2TP VPN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L2TP Server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L2TP Client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L2TP Server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IPSec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VPN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的</a:t>
                      </a: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IPSec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VPN Throughput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比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USG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高近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220Mbps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157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OpenVPN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OpenVPN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Server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OpenVPN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Client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OpenVPN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 Client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56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连接数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</a:t>
                      </a: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的新建连接和最大连接数均显著优于</a:t>
                      </a: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USG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NAT ALG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×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壳体</a:t>
                      </a: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226*131.2*35 mm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135*135*28.3 mm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848">
                <a:tc rowSpan="4"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劣势项</a:t>
                      </a:r>
                    </a:p>
                  </a:txBody>
                  <a:tcPr marL="36079" marR="36079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Deep Packet Inspection (DPI)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×</a:t>
                      </a:r>
                    </a:p>
                  </a:txBody>
                  <a:tcPr marL="36079" marR="36079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Intrusion Prevention System (IPS)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×</a:t>
                      </a: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IPv6</a:t>
                      </a:r>
                      <a:endParaRPr lang="zh-CN" sz="1000" kern="10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Developing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08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DHCP Relay</a:t>
                      </a:r>
                      <a:endParaRPr lang="zh-CN" sz="1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kern="1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Developing</a:t>
                      </a:r>
                      <a:endParaRPr lang="zh-CN" altLang="zh-CN" sz="1000" kern="100" dirty="0" smtClean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30000"/>
                        </a:lnSpc>
                        <a:spcAft>
                          <a:spcPts val="0"/>
                        </a:spcAft>
                      </a:pPr>
                      <a:r>
                        <a:rPr lang="zh-CN" sz="1000" kern="1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√</a:t>
                      </a:r>
                    </a:p>
                  </a:txBody>
                  <a:tcPr marL="36079" marR="36079" marT="0" marB="0" anchor="ctr">
                    <a:solidFill>
                      <a:srgbClr val="E2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80FC7BF3-0989-461E-B3F3-485842F0B59E}"/>
              </a:ext>
            </a:extLst>
          </p:cNvPr>
          <p:cNvSpPr txBox="1"/>
          <p:nvPr/>
        </p:nvSpPr>
        <p:spPr>
          <a:xfrm>
            <a:off x="760288" y="546958"/>
            <a:ext cx="8947593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新增了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SFP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口、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OpenVPN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Multi-net DHCP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等常用功能，且支持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SDN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，可满足中小企业网场景；</a:t>
            </a:r>
            <a:endParaRPr kumimoji="1" lang="en-US" altLang="zh-CN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用于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替代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ER6120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ER6020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，但壳体尺寸改成了桌面型，不可上机架；</a:t>
            </a:r>
            <a:endParaRPr kumimoji="1" lang="en-US" altLang="zh-CN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NAT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VPN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Session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数等关键性能优于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UBNT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竞品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USG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kumimoji="1" lang="en-US" altLang="zh-CN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83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119447" y="5711667"/>
            <a:ext cx="540932" cy="273844"/>
          </a:xfrm>
        </p:spPr>
        <p:txBody>
          <a:bodyPr/>
          <a:lstStyle/>
          <a:p>
            <a:fld id="{8045E168-1219-CD4A-80ED-4291B526AB8C}" type="slidenum">
              <a:rPr kumimoji="1"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pPr/>
              <a:t>39</a:t>
            </a:fld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661910" y="4035937"/>
          <a:ext cx="3978710" cy="13201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连接数</a:t>
                      </a:r>
                      <a:endParaRPr lang="zh-CN" sz="9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ER7206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( ER7206)</a:t>
                      </a:r>
                      <a:endParaRPr lang="zh-CN" sz="9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USG</a:t>
                      </a: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2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最大并发连接数</a:t>
                      </a:r>
                      <a:endParaRPr lang="zh-CN" sz="9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150,000</a:t>
                      </a:r>
                      <a:endParaRPr lang="zh-CN" sz="9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60,000</a:t>
                      </a:r>
                      <a:endParaRPr lang="zh-CN" altLang="zh-CN" sz="900" dirty="0" smtClean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9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新建连接速率</a:t>
                      </a:r>
                      <a:endParaRPr lang="zh-CN" sz="9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B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5,500</a:t>
                      </a:r>
                      <a:endParaRPr lang="zh-CN" altLang="zh-CN" sz="9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smtClean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Arial" panose="020B0604020202020204" pitchFamily="34" charset="0"/>
                        </a:rPr>
                        <a:t>400</a:t>
                      </a:r>
                      <a:endParaRPr lang="zh-CN" altLang="zh-CN" sz="900" dirty="0" smtClean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Arial" panose="020B0604020202020204" pitchFamily="34" charset="0"/>
                      </a:endParaRPr>
                    </a:p>
                  </a:txBody>
                  <a:tcPr marL="51435" marR="51435" marT="0" marB="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图表 10"/>
          <p:cNvGraphicFramePr>
            <a:graphicFrameLocks/>
          </p:cNvGraphicFramePr>
          <p:nvPr>
            <p:extLst/>
          </p:nvPr>
        </p:nvGraphicFramePr>
        <p:xfrm>
          <a:off x="2279948" y="668879"/>
          <a:ext cx="7316153" cy="31601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图表 12"/>
          <p:cNvGraphicFramePr>
            <a:graphicFrameLocks/>
          </p:cNvGraphicFramePr>
          <p:nvPr>
            <p:extLst/>
          </p:nvPr>
        </p:nvGraphicFramePr>
        <p:xfrm>
          <a:off x="1254534" y="3675221"/>
          <a:ext cx="5698332" cy="3034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矩形 13"/>
          <p:cNvSpPr/>
          <p:nvPr/>
        </p:nvSpPr>
        <p:spPr>
          <a:xfrm>
            <a:off x="2827020" y="2080260"/>
            <a:ext cx="548640" cy="1188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82540" y="2080260"/>
            <a:ext cx="548640" cy="1188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338060" y="2080260"/>
            <a:ext cx="548640" cy="1188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775075" y="4404360"/>
            <a:ext cx="1074420" cy="176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059045" y="4404360"/>
            <a:ext cx="1074420" cy="1767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325082" y="4028991"/>
            <a:ext cx="918210" cy="14139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FC7BF3-0989-461E-B3F3-485842F0B59E}"/>
              </a:ext>
            </a:extLst>
          </p:cNvPr>
          <p:cNvSpPr txBox="1"/>
          <p:nvPr/>
        </p:nvSpPr>
        <p:spPr>
          <a:xfrm>
            <a:off x="7683756" y="5639262"/>
            <a:ext cx="420086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实际网络中实测带机量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700+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，日均流量超过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2Tbps;</a:t>
            </a:r>
          </a:p>
        </p:txBody>
      </p:sp>
      <p:sp>
        <p:nvSpPr>
          <p:cNvPr id="22" name="标题 2">
            <a:extLst>
              <a:ext uri="{FF2B5EF4-FFF2-40B4-BE49-F238E27FC236}">
                <a16:creationId xmlns:a16="http://schemas.microsoft.com/office/drawing/2014/main" id="{34C67379-6090-4975-BE35-43B9955EA2FF}"/>
              </a:ext>
            </a:extLst>
          </p:cNvPr>
          <p:cNvSpPr txBox="1"/>
          <p:nvPr/>
        </p:nvSpPr>
        <p:spPr>
          <a:xfrm>
            <a:off x="626219" y="269309"/>
            <a:ext cx="6078001" cy="47148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ER7206 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v1 </a:t>
            </a:r>
            <a:r>
              <a:rPr lang="en-US" altLang="zh-CN" sz="2000" b="1" i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vs</a:t>
            </a:r>
            <a:r>
              <a:rPr lang="en-US" altLang="zh-CN" sz="2000" b="1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 </a:t>
            </a:r>
            <a:r>
              <a:rPr lang="en-US" altLang="zh-CN" sz="2000" b="1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UBNT USG</a:t>
            </a:r>
            <a:endParaRPr lang="en-US" altLang="zh-CN" sz="2000" b="1" dirty="0">
              <a:solidFill>
                <a:srgbClr val="005564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88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101440" y="1191407"/>
          <a:ext cx="8371033" cy="45968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0856">
                  <a:extLst>
                    <a:ext uri="{9D8B030D-6E8A-4147-A177-3AD203B41FA5}">
                      <a16:colId xmlns:a16="http://schemas.microsoft.com/office/drawing/2014/main" val="2473492684"/>
                    </a:ext>
                  </a:extLst>
                </a:gridCol>
                <a:gridCol w="3409168">
                  <a:extLst>
                    <a:ext uri="{9D8B030D-6E8A-4147-A177-3AD203B41FA5}">
                      <a16:colId xmlns:a16="http://schemas.microsoft.com/office/drawing/2014/main" val="1055194112"/>
                    </a:ext>
                  </a:extLst>
                </a:gridCol>
                <a:gridCol w="3541009">
                  <a:extLst>
                    <a:ext uri="{9D8B030D-6E8A-4147-A177-3AD203B41FA5}">
                      <a16:colId xmlns:a16="http://schemas.microsoft.com/office/drawing/2014/main" val="1481982823"/>
                    </a:ext>
                  </a:extLst>
                </a:gridCol>
              </a:tblGrid>
              <a:tr h="2756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effectLst/>
                        </a:rPr>
                        <a:t>差异项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TP-Link </a:t>
                      </a:r>
                      <a:r>
                        <a:rPr lang="en-US" sz="800">
                          <a:effectLst/>
                        </a:rPr>
                        <a:t>ER707-M2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DrayTek Vigor2962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963448638"/>
                  </a:ext>
                </a:extLst>
              </a:tr>
              <a:tr h="5907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1× 2.5G RJ45 WAN Port,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1× 2.5G RJ45 WAN/LAN Port,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1× Gigabit SFP WAN/LAN Port,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4× Gigabit RJ45 WAN/LAN Ports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1× 2.5G RJ45 WAN/LAN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1× Gigabit SFP/RJ45 Combo WAN/LAN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2× Gigabit RJ45 WAN/LAN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2× Gigabit  RJ45 LAN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3227060695"/>
                  </a:ext>
                </a:extLst>
              </a:tr>
              <a:tr h="295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USB Port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r>
                        <a:rPr lang="en-US" sz="800" kern="100">
                          <a:effectLst/>
                        </a:rPr>
                        <a:t>×</a:t>
                      </a:r>
                      <a:r>
                        <a:rPr lang="en-US" sz="800">
                          <a:effectLst/>
                        </a:rPr>
                        <a:t> USB 2.0</a:t>
                      </a:r>
                      <a:r>
                        <a:rPr lang="zh-CN" sz="800">
                          <a:effectLst/>
                        </a:rPr>
                        <a:t>（</a:t>
                      </a:r>
                      <a:r>
                        <a:rPr lang="zh-CN" sz="800" kern="100">
                          <a:effectLst/>
                        </a:rPr>
                        <a:t>支持</a:t>
                      </a:r>
                      <a:r>
                        <a:rPr lang="en-US" sz="800" kern="100">
                          <a:effectLst/>
                        </a:rPr>
                        <a:t>USB</a:t>
                      </a:r>
                      <a:r>
                        <a:rPr lang="zh-CN" sz="800" kern="100">
                          <a:effectLst/>
                        </a:rPr>
                        <a:t>存储和</a:t>
                      </a:r>
                      <a:r>
                        <a:rPr lang="en-US" sz="800" kern="100">
                          <a:effectLst/>
                        </a:rPr>
                        <a:t>USB LTE Dongle</a:t>
                      </a:r>
                      <a:r>
                        <a:rPr lang="zh-CN" sz="8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r>
                        <a:rPr lang="en-US" sz="800" kern="100">
                          <a:effectLst/>
                        </a:rPr>
                        <a:t>×</a:t>
                      </a:r>
                      <a:r>
                        <a:rPr lang="en-US" sz="800">
                          <a:effectLst/>
                        </a:rPr>
                        <a:t> USB 3.0 (</a:t>
                      </a:r>
                      <a:r>
                        <a:rPr lang="zh-CN" sz="800" kern="100">
                          <a:effectLst/>
                        </a:rPr>
                        <a:t>支持存储和</a:t>
                      </a:r>
                      <a:r>
                        <a:rPr lang="en-US" sz="800" kern="100">
                          <a:effectLst/>
                        </a:rPr>
                        <a:t>USB</a:t>
                      </a:r>
                      <a:r>
                        <a:rPr lang="zh-CN" sz="800" kern="100">
                          <a:effectLst/>
                        </a:rPr>
                        <a:t>温度监控</a:t>
                      </a:r>
                      <a:r>
                        <a:rPr lang="en-US" sz="800">
                          <a:effectLst/>
                        </a:rPr>
                        <a:t>)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r>
                        <a:rPr lang="en-US" sz="800" kern="100">
                          <a:effectLst/>
                        </a:rPr>
                        <a:t>×</a:t>
                      </a:r>
                      <a:r>
                        <a:rPr lang="en-US" sz="800">
                          <a:effectLst/>
                        </a:rPr>
                        <a:t> USB 2.0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13886771"/>
                  </a:ext>
                </a:extLst>
              </a:tr>
              <a:tr h="2915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WAN Port Number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up to 6 simultaneous WANs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up to 2 simultaneous WANs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4059387547"/>
                  </a:ext>
                </a:extLst>
              </a:tr>
              <a:tr h="147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Power supply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12V / 1.5A Adapter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110-220V  AC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311915764"/>
                  </a:ext>
                </a:extLst>
              </a:tr>
              <a:tr h="205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Surge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 kV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No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860339347"/>
                  </a:ext>
                </a:extLst>
              </a:tr>
              <a:tr h="1987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Dimension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226 × 131 × 35 mm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273 mm x 171 mm x 45 mm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202060921"/>
                  </a:ext>
                </a:extLst>
              </a:tr>
              <a:tr h="1946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Mount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Desktop / Wall-mount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Rack-mount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2405893796"/>
                  </a:ext>
                </a:extLst>
              </a:tr>
              <a:tr h="437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VPN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IPSec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L2TP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PPTP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GRE*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OPenVPN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SSL VPN</a:t>
                      </a:r>
                      <a:r>
                        <a:rPr lang="zh-CN" sz="800" kern="100">
                          <a:effectLst/>
                        </a:rPr>
                        <a:t>（</a:t>
                      </a:r>
                      <a:r>
                        <a:rPr lang="en-US" sz="800" kern="100">
                          <a:effectLst/>
                        </a:rPr>
                        <a:t>Wireguard</a:t>
                      </a:r>
                      <a:r>
                        <a:rPr lang="zh-CN" sz="800" kern="100">
                          <a:effectLst/>
                        </a:rPr>
                        <a:t>正在开发，后续软件升级支持）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IPSec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L2TP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PPTP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GRE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Wireguard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OPenVPN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SSL VPN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215232315"/>
                  </a:ext>
                </a:extLst>
              </a:tr>
              <a:tr h="2102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LTE Feature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√（需额外购买</a:t>
                      </a:r>
                      <a:r>
                        <a:rPr lang="en-US" sz="800" kern="100">
                          <a:effectLst/>
                        </a:rPr>
                        <a:t>USB LTE Dongle</a:t>
                      </a:r>
                      <a:r>
                        <a:rPr lang="zh-CN" sz="800" kern="1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693114548"/>
                  </a:ext>
                </a:extLst>
              </a:tr>
              <a:tr h="2915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Routing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Static Route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Policy Route</a:t>
                      </a:r>
                      <a:r>
                        <a:rPr lang="zh-CN" sz="800" kern="100">
                          <a:effectLst/>
                        </a:rPr>
                        <a:t>（</a:t>
                      </a:r>
                      <a:r>
                        <a:rPr lang="en-US" sz="800" kern="100">
                          <a:effectLst/>
                        </a:rPr>
                        <a:t>RIP</a:t>
                      </a:r>
                      <a:r>
                        <a:rPr lang="zh-CN" sz="800" kern="100">
                          <a:effectLst/>
                        </a:rPr>
                        <a:t>和</a:t>
                      </a:r>
                      <a:r>
                        <a:rPr lang="en-US" sz="800" kern="100">
                          <a:effectLst/>
                        </a:rPr>
                        <a:t>OSPF</a:t>
                      </a:r>
                      <a:r>
                        <a:rPr lang="zh-CN" sz="800" kern="100">
                          <a:effectLst/>
                        </a:rPr>
                        <a:t>正在开发，后续软件升级支持）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Static Route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Policy Route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RIP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OSPF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BGP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3207840344"/>
                  </a:ext>
                </a:extLst>
              </a:tr>
              <a:tr h="2915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NAT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DMZ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Port Triggering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ALG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One-to-One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Virtual Servers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DMZ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Port Triggering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ALG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Port Redirection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937404438"/>
                  </a:ext>
                </a:extLst>
              </a:tr>
              <a:tr h="437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Bandwidth Management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Session Limit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Bandwidth Limit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Load Balance</a:t>
                      </a:r>
                      <a:r>
                        <a:rPr lang="zh-CN" sz="800" kern="100">
                          <a:effectLst/>
                        </a:rPr>
                        <a:t>（</a:t>
                      </a:r>
                      <a:r>
                        <a:rPr lang="en-US" sz="800" kern="100">
                          <a:effectLst/>
                        </a:rPr>
                        <a:t>QoS</a:t>
                      </a:r>
                      <a:r>
                        <a:rPr lang="zh-CN" sz="800" kern="100">
                          <a:effectLst/>
                        </a:rPr>
                        <a:t>正在开发中，后续软件升级支持）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Session Limit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Bandwidth Limit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QoS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Load Balance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1542740714"/>
                  </a:ext>
                </a:extLst>
              </a:tr>
              <a:tr h="7289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Security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Anti ARP Spoofing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Attack Defense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Mac Filtering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Access Control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URL Filtering</a:t>
                      </a:r>
                      <a:r>
                        <a:rPr lang="zh-CN" sz="800" kern="100">
                          <a:effectLst/>
                        </a:rPr>
                        <a:t>、</a:t>
                      </a:r>
                      <a:r>
                        <a:rPr lang="en-US" sz="800" kern="100">
                          <a:effectLst/>
                        </a:rPr>
                        <a:t>Web Filtering</a:t>
                      </a:r>
                      <a:r>
                        <a:rPr lang="zh-CN" sz="800" kern="100">
                          <a:effectLst/>
                        </a:rPr>
                        <a:t>（</a:t>
                      </a:r>
                      <a:r>
                        <a:rPr lang="en-US" sz="800" kern="100">
                          <a:effectLst/>
                        </a:rPr>
                        <a:t>Content Filtering</a:t>
                      </a:r>
                      <a:r>
                        <a:rPr lang="zh-CN" sz="800" kern="100">
                          <a:effectLst/>
                        </a:rPr>
                        <a:t>正在去找第三方合作商，</a:t>
                      </a:r>
                      <a:r>
                        <a:rPr lang="en-US" sz="800" kern="100">
                          <a:effectLst/>
                        </a:rPr>
                        <a:t>DNS Filtering</a:t>
                      </a:r>
                      <a:r>
                        <a:rPr lang="zh-CN" sz="800" kern="100">
                          <a:effectLst/>
                        </a:rPr>
                        <a:t>已经规划后续软件迭代支持）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effectLst/>
                        </a:rPr>
                        <a:t>Attack Defense</a:t>
                      </a:r>
                      <a:r>
                        <a:rPr lang="zh-CN" sz="800" kern="100" dirty="0">
                          <a:effectLst/>
                        </a:rPr>
                        <a:t>、</a:t>
                      </a:r>
                      <a:r>
                        <a:rPr lang="en-US" sz="800" kern="100" dirty="0">
                          <a:effectLst/>
                        </a:rPr>
                        <a:t>Access Control</a:t>
                      </a:r>
                      <a:r>
                        <a:rPr lang="zh-CN" sz="800" kern="100" dirty="0">
                          <a:effectLst/>
                        </a:rPr>
                        <a:t>、</a:t>
                      </a:r>
                      <a:r>
                        <a:rPr lang="en-US" sz="800" kern="100" dirty="0">
                          <a:effectLst/>
                        </a:rPr>
                        <a:t>Content Filtering</a:t>
                      </a:r>
                      <a:r>
                        <a:rPr lang="zh-CN" sz="800" kern="100" dirty="0">
                          <a:effectLst/>
                        </a:rPr>
                        <a:t>、</a:t>
                      </a:r>
                      <a:r>
                        <a:rPr lang="en-US" sz="800" kern="100" dirty="0">
                          <a:effectLst/>
                        </a:rPr>
                        <a:t>URL Filtering</a:t>
                      </a:r>
                      <a:r>
                        <a:rPr lang="zh-CN" sz="800" kern="100" dirty="0">
                          <a:effectLst/>
                        </a:rPr>
                        <a:t>、</a:t>
                      </a:r>
                      <a:r>
                        <a:rPr lang="en-US" sz="800" kern="100" dirty="0">
                          <a:effectLst/>
                        </a:rPr>
                        <a:t>Web Filtering</a:t>
                      </a:r>
                      <a:r>
                        <a:rPr lang="zh-CN" sz="800" kern="100" dirty="0">
                          <a:effectLst/>
                        </a:rPr>
                        <a:t>、</a:t>
                      </a:r>
                      <a:r>
                        <a:rPr lang="en-US" sz="800" kern="100" dirty="0">
                          <a:effectLst/>
                        </a:rPr>
                        <a:t>DNS Filtering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579" marR="51579" marT="0" marB="0" anchor="ctr"/>
                </a:tc>
                <a:extLst>
                  <a:ext uri="{0D108BD9-81ED-4DB2-BD59-A6C34878D82A}">
                    <a16:rowId xmlns:a16="http://schemas.microsoft.com/office/drawing/2014/main" val="2151874866"/>
                  </a:ext>
                </a:extLst>
              </a:tr>
            </a:tbl>
          </a:graphicData>
        </a:graphic>
      </p:graphicFrame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27807" y="248531"/>
            <a:ext cx="10913234" cy="373579"/>
          </a:xfrm>
        </p:spPr>
        <p:txBody>
          <a:bodyPr/>
          <a:lstStyle/>
          <a:p>
            <a:r>
              <a:rPr lang="en-US" altLang="zh-CN" dirty="0" smtClean="0"/>
              <a:t>ER707-M2</a:t>
            </a:r>
            <a:r>
              <a:rPr lang="zh-CN" altLang="en-US" dirty="0" smtClean="0"/>
              <a:t>竞品对比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302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269640" y="2523540"/>
          <a:ext cx="6060137" cy="7360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05845">
                  <a:extLst>
                    <a:ext uri="{9D8B030D-6E8A-4147-A177-3AD203B41FA5}">
                      <a16:colId xmlns:a16="http://schemas.microsoft.com/office/drawing/2014/main" val="2527614189"/>
                    </a:ext>
                  </a:extLst>
                </a:gridCol>
                <a:gridCol w="826182">
                  <a:extLst>
                    <a:ext uri="{9D8B030D-6E8A-4147-A177-3AD203B41FA5}">
                      <a16:colId xmlns:a16="http://schemas.microsoft.com/office/drawing/2014/main" val="1504131717"/>
                    </a:ext>
                  </a:extLst>
                </a:gridCol>
                <a:gridCol w="826182">
                  <a:extLst>
                    <a:ext uri="{9D8B030D-6E8A-4147-A177-3AD203B41FA5}">
                      <a16:colId xmlns:a16="http://schemas.microsoft.com/office/drawing/2014/main" val="1657063561"/>
                    </a:ext>
                  </a:extLst>
                </a:gridCol>
                <a:gridCol w="775482">
                  <a:extLst>
                    <a:ext uri="{9D8B030D-6E8A-4147-A177-3AD203B41FA5}">
                      <a16:colId xmlns:a16="http://schemas.microsoft.com/office/drawing/2014/main" val="3898664932"/>
                    </a:ext>
                  </a:extLst>
                </a:gridCol>
                <a:gridCol w="775482">
                  <a:extLst>
                    <a:ext uri="{9D8B030D-6E8A-4147-A177-3AD203B41FA5}">
                      <a16:colId xmlns:a16="http://schemas.microsoft.com/office/drawing/2014/main" val="4072714610"/>
                    </a:ext>
                  </a:extLst>
                </a:gridCol>
                <a:gridCol w="775482">
                  <a:extLst>
                    <a:ext uri="{9D8B030D-6E8A-4147-A177-3AD203B41FA5}">
                      <a16:colId xmlns:a16="http://schemas.microsoft.com/office/drawing/2014/main" val="1201545560"/>
                    </a:ext>
                  </a:extLst>
                </a:gridCol>
                <a:gridCol w="775482">
                  <a:extLst>
                    <a:ext uri="{9D8B030D-6E8A-4147-A177-3AD203B41FA5}">
                      <a16:colId xmlns:a16="http://schemas.microsoft.com/office/drawing/2014/main" val="3408733884"/>
                    </a:ext>
                  </a:extLst>
                </a:gridCol>
              </a:tblGrid>
              <a:tr h="160655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机型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TCP</a:t>
                      </a:r>
                      <a:r>
                        <a:rPr lang="zh-CN" sz="1050" kern="100">
                          <a:effectLst/>
                        </a:rPr>
                        <a:t>——</a:t>
                      </a:r>
                      <a:r>
                        <a:rPr lang="en-US" sz="1050" kern="100">
                          <a:effectLst/>
                        </a:rPr>
                        <a:t>Static IP</a:t>
                      </a:r>
                      <a:r>
                        <a:rPr lang="zh-CN" sz="1050" kern="100">
                          <a:effectLst/>
                        </a:rPr>
                        <a:t>拨号（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——</a:t>
                      </a:r>
                      <a:r>
                        <a:rPr lang="en-US" sz="1050" kern="1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PPPoE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拨号（</a:t>
                      </a: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Mbps</a:t>
                      </a: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337363"/>
                  </a:ext>
                </a:extLst>
              </a:tr>
              <a:tr h="163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双向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上行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下行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8422397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 ER707-M2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2364.449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2343.275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4426.619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2350.929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2125.83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3539.274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7042423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050" kern="100">
                          <a:effectLst/>
                        </a:rPr>
                        <a:t>DrayTek Vigor2962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2314.221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2283.657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3562.187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2112.211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2107.029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3050.496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338229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15517" y="668019"/>
            <a:ext cx="109964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ER707-M2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CPU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支持硬件加速引擎，因而其在各种拨号方式下的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报文转发性能均显著优于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DrayTek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Vigor2962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kumimoji="1" lang="en-US" altLang="zh-CN" sz="1100" dirty="0" smtClean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ER707-M2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在不同包长下的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报文转发速率全面显著优于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DrayTek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Vigor2962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66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字节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小包环境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下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，其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报文单向转发速率为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DrayTek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Vigor2962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倍；</a:t>
            </a:r>
            <a:endParaRPr kumimoji="1" lang="en-US" altLang="zh-CN" sz="1100" dirty="0" smtClean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ER707-M2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的不同种类、不同加密算法下的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VPN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性能相较于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DrayTek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Vigor2962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各有优劣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kumimoji="1" lang="en-US" altLang="zh-CN" sz="1100" dirty="0" smtClean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ER707-M2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的新建连接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数和最大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连接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数均显著优于</a:t>
            </a:r>
            <a:r>
              <a:rPr kumimoji="1" lang="en-US" altLang="zh-CN" sz="1100" dirty="0" err="1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DrayTek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Vigor2962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kumimoji="1" lang="zh-CN" altLang="en-US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269641" y="4477526"/>
          <a:ext cx="6060137" cy="12669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0343">
                  <a:extLst>
                    <a:ext uri="{9D8B030D-6E8A-4147-A177-3AD203B41FA5}">
                      <a16:colId xmlns:a16="http://schemas.microsoft.com/office/drawing/2014/main" val="2016343898"/>
                    </a:ext>
                  </a:extLst>
                </a:gridCol>
                <a:gridCol w="579308">
                  <a:extLst>
                    <a:ext uri="{9D8B030D-6E8A-4147-A177-3AD203B41FA5}">
                      <a16:colId xmlns:a16="http://schemas.microsoft.com/office/drawing/2014/main" val="628845802"/>
                    </a:ext>
                  </a:extLst>
                </a:gridCol>
                <a:gridCol w="606239">
                  <a:extLst>
                    <a:ext uri="{9D8B030D-6E8A-4147-A177-3AD203B41FA5}">
                      <a16:colId xmlns:a16="http://schemas.microsoft.com/office/drawing/2014/main" val="892911725"/>
                    </a:ext>
                  </a:extLst>
                </a:gridCol>
                <a:gridCol w="553568">
                  <a:extLst>
                    <a:ext uri="{9D8B030D-6E8A-4147-A177-3AD203B41FA5}">
                      <a16:colId xmlns:a16="http://schemas.microsoft.com/office/drawing/2014/main" val="3236354071"/>
                    </a:ext>
                  </a:extLst>
                </a:gridCol>
                <a:gridCol w="644733">
                  <a:extLst>
                    <a:ext uri="{9D8B030D-6E8A-4147-A177-3AD203B41FA5}">
                      <a16:colId xmlns:a16="http://schemas.microsoft.com/office/drawing/2014/main" val="2696161661"/>
                    </a:ext>
                  </a:extLst>
                </a:gridCol>
                <a:gridCol w="574550">
                  <a:extLst>
                    <a:ext uri="{9D8B030D-6E8A-4147-A177-3AD203B41FA5}">
                      <a16:colId xmlns:a16="http://schemas.microsoft.com/office/drawing/2014/main" val="3847576777"/>
                    </a:ext>
                  </a:extLst>
                </a:gridCol>
                <a:gridCol w="574550">
                  <a:extLst>
                    <a:ext uri="{9D8B030D-6E8A-4147-A177-3AD203B41FA5}">
                      <a16:colId xmlns:a16="http://schemas.microsoft.com/office/drawing/2014/main" val="1650496131"/>
                    </a:ext>
                  </a:extLst>
                </a:gridCol>
                <a:gridCol w="582282">
                  <a:extLst>
                    <a:ext uri="{9D8B030D-6E8A-4147-A177-3AD203B41FA5}">
                      <a16:colId xmlns:a16="http://schemas.microsoft.com/office/drawing/2014/main" val="816489504"/>
                    </a:ext>
                  </a:extLst>
                </a:gridCol>
                <a:gridCol w="582282">
                  <a:extLst>
                    <a:ext uri="{9D8B030D-6E8A-4147-A177-3AD203B41FA5}">
                      <a16:colId xmlns:a16="http://schemas.microsoft.com/office/drawing/2014/main" val="963669700"/>
                    </a:ext>
                  </a:extLst>
                </a:gridCol>
                <a:gridCol w="582282">
                  <a:extLst>
                    <a:ext uri="{9D8B030D-6E8A-4147-A177-3AD203B41FA5}">
                      <a16:colId xmlns:a16="http://schemas.microsoft.com/office/drawing/2014/main" val="4245885835"/>
                    </a:ext>
                  </a:extLst>
                </a:gridCol>
              </a:tblGrid>
              <a:tr h="2654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机型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66</a:t>
                      </a:r>
                      <a:r>
                        <a:rPr lang="zh-CN" sz="1050" kern="100">
                          <a:effectLst/>
                        </a:rPr>
                        <a:t>字节（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1518</a:t>
                      </a:r>
                      <a:r>
                        <a:rPr lang="zh-CN" sz="1050" kern="100">
                          <a:effectLst/>
                        </a:rPr>
                        <a:t>字节（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Imix</a:t>
                      </a:r>
                      <a:r>
                        <a:rPr lang="zh-CN" sz="1050" kern="100">
                          <a:effectLst/>
                        </a:rPr>
                        <a:t>包长（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685881"/>
                  </a:ext>
                </a:extLst>
              </a:tr>
              <a:tr h="2654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852015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 ER707-M2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1832.69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1741.84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3573.30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2461.18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2457.32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4982.47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2333.29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2292.48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4631.46 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452303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050" kern="100">
                          <a:effectLst/>
                        </a:rPr>
                        <a:t>DrayTek Vigor2962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437.63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451.83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441.62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2437.33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2461.17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3700.22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1882.99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1814.22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1835.47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7195075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6705280" y="2523540"/>
          <a:ext cx="5173361" cy="21163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19842">
                  <a:extLst>
                    <a:ext uri="{9D8B030D-6E8A-4147-A177-3AD203B41FA5}">
                      <a16:colId xmlns:a16="http://schemas.microsoft.com/office/drawing/2014/main" val="1875511249"/>
                    </a:ext>
                  </a:extLst>
                </a:gridCol>
                <a:gridCol w="1019842">
                  <a:extLst>
                    <a:ext uri="{9D8B030D-6E8A-4147-A177-3AD203B41FA5}">
                      <a16:colId xmlns:a16="http://schemas.microsoft.com/office/drawing/2014/main" val="2487180509"/>
                    </a:ext>
                  </a:extLst>
                </a:gridCol>
                <a:gridCol w="937945">
                  <a:extLst>
                    <a:ext uri="{9D8B030D-6E8A-4147-A177-3AD203B41FA5}">
                      <a16:colId xmlns:a16="http://schemas.microsoft.com/office/drawing/2014/main" val="689327979"/>
                    </a:ext>
                  </a:extLst>
                </a:gridCol>
                <a:gridCol w="1097866">
                  <a:extLst>
                    <a:ext uri="{9D8B030D-6E8A-4147-A177-3AD203B41FA5}">
                      <a16:colId xmlns:a16="http://schemas.microsoft.com/office/drawing/2014/main" val="873276709"/>
                    </a:ext>
                  </a:extLst>
                </a:gridCol>
                <a:gridCol w="1097866">
                  <a:extLst>
                    <a:ext uri="{9D8B030D-6E8A-4147-A177-3AD203B41FA5}">
                      <a16:colId xmlns:a16="http://schemas.microsoft.com/office/drawing/2014/main" val="749561329"/>
                    </a:ext>
                  </a:extLst>
                </a:gridCol>
              </a:tblGrid>
              <a:tr h="172926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VPN</a:t>
                      </a:r>
                      <a:r>
                        <a:rPr lang="zh-CN" sz="1000">
                          <a:effectLst/>
                        </a:rPr>
                        <a:t>类型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</a:rPr>
                        <a:t>加密算法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TCP</a:t>
                      </a:r>
                      <a:r>
                        <a:rPr lang="zh-CN" sz="1000">
                          <a:effectLst/>
                        </a:rPr>
                        <a:t>性能</a:t>
                      </a:r>
                      <a:r>
                        <a:rPr lang="en-US" sz="1000">
                          <a:effectLst/>
                        </a:rPr>
                        <a:t>Mbps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235796"/>
                  </a:ext>
                </a:extLst>
              </a:tr>
              <a:tr h="3458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ER7206 v1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ER707-M2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DrayTek Vigor2962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extLst>
                  <a:ext uri="{0D108BD9-81ED-4DB2-BD59-A6C34878D82A}">
                    <a16:rowId xmlns:a16="http://schemas.microsoft.com/office/drawing/2014/main" val="4224233709"/>
                  </a:ext>
                </a:extLst>
              </a:tr>
              <a:tr h="172926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IPSec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esp-sha1-aes128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293.381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772.087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1355.623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309789825"/>
                  </a:ext>
                </a:extLst>
              </a:tr>
              <a:tr h="1729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esp-sha1-aes192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293.879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773.42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1339.849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2119477094"/>
                  </a:ext>
                </a:extLst>
              </a:tr>
              <a:tr h="17292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esp-sha1-aes256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291.568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754.646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1336.729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3979642403"/>
                  </a:ext>
                </a:extLst>
              </a:tr>
              <a:tr h="1729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L2TP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Encrypted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202.286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346.427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75.911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419584723"/>
                  </a:ext>
                </a:extLst>
              </a:tr>
              <a:tr h="1729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PPTP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Encrypted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115.63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228.73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275.239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3271933741"/>
                  </a:ext>
                </a:extLst>
              </a:tr>
              <a:tr h="178565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OpenVPN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UDP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141.666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55.349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2263788332"/>
                  </a:ext>
                </a:extLst>
              </a:tr>
              <a:tr h="1785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TCP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154.913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9.185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1535468265"/>
                  </a:ext>
                </a:extLst>
              </a:tr>
              <a:tr h="178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SSL VPN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142.995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491.346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463176633"/>
                  </a:ext>
                </a:extLst>
              </a:tr>
              <a:tr h="17856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GRE*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Encrypted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376.243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00" dirty="0">
                          <a:effectLst/>
                        </a:rPr>
                        <a:t>不支持该功能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7667" marR="67667" marT="0" marB="0" anchor="ctr"/>
                </a:tc>
                <a:extLst>
                  <a:ext uri="{0D108BD9-81ED-4DB2-BD59-A6C34878D82A}">
                    <a16:rowId xmlns:a16="http://schemas.microsoft.com/office/drawing/2014/main" val="183650019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6705280" y="5111002"/>
          <a:ext cx="5153660" cy="796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0761">
                  <a:extLst>
                    <a:ext uri="{9D8B030D-6E8A-4147-A177-3AD203B41FA5}">
                      <a16:colId xmlns:a16="http://schemas.microsoft.com/office/drawing/2014/main" val="3140206443"/>
                    </a:ext>
                  </a:extLst>
                </a:gridCol>
                <a:gridCol w="1534092">
                  <a:extLst>
                    <a:ext uri="{9D8B030D-6E8A-4147-A177-3AD203B41FA5}">
                      <a16:colId xmlns:a16="http://schemas.microsoft.com/office/drawing/2014/main" val="1724969171"/>
                    </a:ext>
                  </a:extLst>
                </a:gridCol>
                <a:gridCol w="1438807">
                  <a:extLst>
                    <a:ext uri="{9D8B030D-6E8A-4147-A177-3AD203B41FA5}">
                      <a16:colId xmlns:a16="http://schemas.microsoft.com/office/drawing/2014/main" val="849209059"/>
                    </a:ext>
                  </a:extLst>
                </a:gridCol>
              </a:tblGrid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机型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新建连接数</a:t>
                      </a:r>
                      <a:r>
                        <a:rPr lang="en-US" sz="1050" kern="100">
                          <a:effectLst/>
                        </a:rPr>
                        <a:t> (Session/s)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最大连接数</a:t>
                      </a:r>
                      <a:r>
                        <a:rPr lang="en-US" sz="1050" kern="100">
                          <a:effectLst/>
                        </a:rPr>
                        <a:t> (Session)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5964553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 ER707-M2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4,200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500,000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84576094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l-PL" sz="1050" kern="100">
                          <a:effectLst/>
                        </a:rPr>
                        <a:t>DrayTek Vigor2962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13,000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6272144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269640" y="2215763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【TCP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269640" y="4130584"/>
            <a:ext cx="1282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【UDP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>
          <a:xfrm>
            <a:off x="6706761" y="2217337"/>
            <a:ext cx="12731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【VPN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6706761" y="4820293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连接数性能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827807" y="248531"/>
            <a:ext cx="10913234" cy="373579"/>
          </a:xfrm>
        </p:spPr>
        <p:txBody>
          <a:bodyPr/>
          <a:lstStyle/>
          <a:p>
            <a:r>
              <a:rPr lang="en-US" altLang="zh-CN" dirty="0" smtClean="0"/>
              <a:t>ER707-M2</a:t>
            </a:r>
            <a:r>
              <a:rPr lang="zh-CN" altLang="en-US" dirty="0" smtClean="0"/>
              <a:t>竞品对比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938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807" y="248531"/>
            <a:ext cx="10913234" cy="373579"/>
          </a:xfrm>
        </p:spPr>
        <p:txBody>
          <a:bodyPr/>
          <a:lstStyle/>
          <a:p>
            <a:r>
              <a:rPr lang="en-US" altLang="zh-CN" dirty="0" smtClean="0"/>
              <a:t>ER8411</a:t>
            </a:r>
            <a:r>
              <a:rPr lang="zh-CN" altLang="en-US" dirty="0" smtClean="0"/>
              <a:t>竞品对比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1376039" y="1012054"/>
          <a:ext cx="9010835" cy="50500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7183">
                  <a:extLst>
                    <a:ext uri="{9D8B030D-6E8A-4147-A177-3AD203B41FA5}">
                      <a16:colId xmlns:a16="http://schemas.microsoft.com/office/drawing/2014/main" val="2791216065"/>
                    </a:ext>
                  </a:extLst>
                </a:gridCol>
                <a:gridCol w="2240560">
                  <a:extLst>
                    <a:ext uri="{9D8B030D-6E8A-4147-A177-3AD203B41FA5}">
                      <a16:colId xmlns:a16="http://schemas.microsoft.com/office/drawing/2014/main" val="1774603631"/>
                    </a:ext>
                  </a:extLst>
                </a:gridCol>
                <a:gridCol w="1896927">
                  <a:extLst>
                    <a:ext uri="{9D8B030D-6E8A-4147-A177-3AD203B41FA5}">
                      <a16:colId xmlns:a16="http://schemas.microsoft.com/office/drawing/2014/main" val="4262865248"/>
                    </a:ext>
                  </a:extLst>
                </a:gridCol>
                <a:gridCol w="1870025">
                  <a:extLst>
                    <a:ext uri="{9D8B030D-6E8A-4147-A177-3AD203B41FA5}">
                      <a16:colId xmlns:a16="http://schemas.microsoft.com/office/drawing/2014/main" val="237762532"/>
                    </a:ext>
                  </a:extLst>
                </a:gridCol>
                <a:gridCol w="2066140">
                  <a:extLst>
                    <a:ext uri="{9D8B030D-6E8A-4147-A177-3AD203B41FA5}">
                      <a16:colId xmlns:a16="http://schemas.microsoft.com/office/drawing/2014/main" val="2130618873"/>
                    </a:ext>
                  </a:extLst>
                </a:gridCol>
              </a:tblGrid>
              <a:tr h="296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差异项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TP-Link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ER8411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UBNT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UDM-Pro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MikroTik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CCR1009-7G-1C-1S+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MikroTik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CCR2004-1G-12S+2XS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1309206515"/>
                  </a:ext>
                </a:extLst>
              </a:tr>
              <a:tr h="296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CPU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Quad-Core Cortex-A72 @2.2GHz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Quad- Core Cortex-A57 @1.7 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9-Core TILE @1.2GHz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Quad- Core Cortex-A57 @1.7 GHz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1761128284"/>
                  </a:ext>
                </a:extLst>
              </a:tr>
              <a:tr h="296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存储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4MB Nor Flash + 256MB NAND Flash + 4GB DDR4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16GB eMMC Flash + </a:t>
                      </a:r>
                      <a:r>
                        <a:rPr lang="en-US" sz="800">
                          <a:effectLst/>
                        </a:rPr>
                        <a:t>4GB DDR4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MB NAND Flash + 2GB 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128 MB NAND Flash + 4GB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179241506"/>
                  </a:ext>
                </a:extLst>
              </a:tr>
              <a:tr h="7390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端口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10G SFP+ WAN,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10G SFP+ WAN/LAN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Gigabit SFP WAN/LAN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8* Gigabit RJ45 WAN/LAN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10G SFP+ WAN,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10G SFP+ LAN,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Gigabit RJ45 WAN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8* Gigabit RJ45 LAN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10G SFP+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SFP/RJ45 Combo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7* Gigabit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(</a:t>
                      </a:r>
                      <a:r>
                        <a:rPr lang="zh-CN" sz="800" kern="100">
                          <a:effectLst/>
                        </a:rPr>
                        <a:t>均为</a:t>
                      </a:r>
                      <a:r>
                        <a:rPr lang="en-US" sz="800" kern="100">
                          <a:effectLst/>
                        </a:rPr>
                        <a:t>WAN/LAN</a:t>
                      </a:r>
                      <a:r>
                        <a:rPr lang="zh-CN" sz="800" kern="100">
                          <a:effectLst/>
                        </a:rPr>
                        <a:t>口</a:t>
                      </a:r>
                      <a:r>
                        <a:rPr lang="en-US" sz="800" kern="100">
                          <a:effectLst/>
                        </a:rPr>
                        <a:t>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2* 25G SFP28 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12* 10G SFP+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Gigabit RJ45</a:t>
                      </a:r>
                      <a:endParaRPr lang="zh-CN" sz="8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(</a:t>
                      </a:r>
                      <a:r>
                        <a:rPr lang="zh-CN" sz="800" kern="100">
                          <a:effectLst/>
                        </a:rPr>
                        <a:t>均为</a:t>
                      </a:r>
                      <a:r>
                        <a:rPr lang="en-US" sz="800" kern="100">
                          <a:effectLst/>
                        </a:rPr>
                        <a:t>WAN/LAN</a:t>
                      </a:r>
                      <a:r>
                        <a:rPr lang="zh-CN" sz="800" kern="100">
                          <a:effectLst/>
                        </a:rPr>
                        <a:t>口</a:t>
                      </a:r>
                      <a:r>
                        <a:rPr lang="en-US" sz="800" kern="100">
                          <a:effectLst/>
                        </a:rPr>
                        <a:t>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045409013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Console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RS232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RJ45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1206618884"/>
                  </a:ext>
                </a:extLst>
              </a:tr>
              <a:tr h="2956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外设储存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USB 3.0</a:t>
                      </a:r>
                      <a:r>
                        <a:rPr lang="zh-CN" sz="800">
                          <a:effectLst/>
                        </a:rPr>
                        <a:t>（</a:t>
                      </a:r>
                      <a:r>
                        <a:rPr lang="en-US" sz="800">
                          <a:effectLst/>
                        </a:rPr>
                        <a:t>1</a:t>
                      </a:r>
                      <a:r>
                        <a:rPr lang="zh-CN" sz="800">
                          <a:effectLst/>
                        </a:rPr>
                        <a:t>个支持插入</a:t>
                      </a:r>
                      <a:r>
                        <a:rPr lang="en-US" sz="800">
                          <a:effectLst/>
                        </a:rPr>
                        <a:t>USB LTE Dongle</a:t>
                      </a:r>
                      <a:r>
                        <a:rPr lang="zh-CN" sz="8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</a:t>
                      </a:r>
                      <a:r>
                        <a:rPr lang="zh-CN" sz="800" kern="100">
                          <a:effectLst/>
                        </a:rPr>
                        <a:t>个硬盘槽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1* Micro-USB</a:t>
                      </a:r>
                      <a:r>
                        <a:rPr lang="zh-CN" sz="800">
                          <a:effectLst/>
                        </a:rPr>
                        <a:t>（用于供电）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796155672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Power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AC (Backup)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1* AC + 1* DC RPS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AC (Backup)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2* AC (Backup)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877731443"/>
                  </a:ext>
                </a:extLst>
              </a:tr>
              <a:tr h="2956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主板温度监控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effectLst/>
                        </a:rPr>
                        <a:t>√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3217661407"/>
                  </a:ext>
                </a:extLst>
              </a:tr>
              <a:tr h="2152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FAN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1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3157946984"/>
                  </a:ext>
                </a:extLst>
              </a:tr>
              <a:tr h="4486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内置</a:t>
                      </a:r>
                      <a:r>
                        <a:rPr lang="en-US" sz="800" kern="100">
                          <a:effectLst/>
                        </a:rPr>
                        <a:t>Controller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3785440164"/>
                  </a:ext>
                </a:extLst>
              </a:tr>
              <a:tr h="213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SSL VPN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107745592"/>
                  </a:ext>
                </a:extLst>
              </a:tr>
              <a:tr h="296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LTE Feature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√（需额外购买</a:t>
                      </a:r>
                      <a:r>
                        <a:rPr lang="en-US" sz="800" kern="100">
                          <a:effectLst/>
                        </a:rPr>
                        <a:t>USB LTE Dongle</a:t>
                      </a:r>
                      <a:r>
                        <a:rPr lang="zh-CN" sz="800" kern="1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942791487"/>
                  </a:ext>
                </a:extLst>
              </a:tr>
              <a:tr h="293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动态路由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√（</a:t>
                      </a:r>
                      <a:r>
                        <a:rPr lang="en-US" sz="800" kern="100">
                          <a:effectLst/>
                        </a:rPr>
                        <a:t>RIP, OSP, BGP</a:t>
                      </a:r>
                      <a:r>
                        <a:rPr lang="zh-CN" sz="800" kern="1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√（</a:t>
                      </a:r>
                      <a:r>
                        <a:rPr lang="en-US" sz="800" kern="100">
                          <a:effectLst/>
                        </a:rPr>
                        <a:t>RIP, OSP, BGP</a:t>
                      </a:r>
                      <a:r>
                        <a:rPr lang="zh-CN" sz="800" kern="100">
                          <a:effectLst/>
                        </a:rPr>
                        <a:t>）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91906768"/>
                  </a:ext>
                </a:extLst>
              </a:tr>
              <a:tr h="2939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组播路由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52045722"/>
                  </a:ext>
                </a:extLst>
              </a:tr>
              <a:tr h="213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VRRP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62568476"/>
                  </a:ext>
                </a:extLst>
              </a:tr>
              <a:tr h="213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DPI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2480328134"/>
                  </a:ext>
                </a:extLst>
              </a:tr>
              <a:tr h="213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kern="100">
                          <a:effectLst/>
                        </a:rPr>
                        <a:t>IPS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√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>
                          <a:effectLst/>
                        </a:rPr>
                        <a:t>×</a:t>
                      </a:r>
                      <a:endParaRPr lang="zh-CN" sz="8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800" kern="100" dirty="0">
                          <a:effectLst/>
                        </a:rPr>
                        <a:t>×</a:t>
                      </a:r>
                      <a:endParaRPr lang="zh-CN" sz="8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0639" marR="50639" marT="0" marB="0" anchor="ctr"/>
                </a:tc>
                <a:extLst>
                  <a:ext uri="{0D108BD9-81ED-4DB2-BD59-A6C34878D82A}">
                    <a16:rowId xmlns:a16="http://schemas.microsoft.com/office/drawing/2014/main" val="408832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05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64946" y="1882231"/>
          <a:ext cx="6601678" cy="17978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22536">
                  <a:extLst>
                    <a:ext uri="{9D8B030D-6E8A-4147-A177-3AD203B41FA5}">
                      <a16:colId xmlns:a16="http://schemas.microsoft.com/office/drawing/2014/main" val="366149974"/>
                    </a:ext>
                  </a:extLst>
                </a:gridCol>
                <a:gridCol w="900013">
                  <a:extLst>
                    <a:ext uri="{9D8B030D-6E8A-4147-A177-3AD203B41FA5}">
                      <a16:colId xmlns:a16="http://schemas.microsoft.com/office/drawing/2014/main" val="2482254078"/>
                    </a:ext>
                  </a:extLst>
                </a:gridCol>
                <a:gridCol w="900013">
                  <a:extLst>
                    <a:ext uri="{9D8B030D-6E8A-4147-A177-3AD203B41FA5}">
                      <a16:colId xmlns:a16="http://schemas.microsoft.com/office/drawing/2014/main" val="3832962160"/>
                    </a:ext>
                  </a:extLst>
                </a:gridCol>
                <a:gridCol w="844779">
                  <a:extLst>
                    <a:ext uri="{9D8B030D-6E8A-4147-A177-3AD203B41FA5}">
                      <a16:colId xmlns:a16="http://schemas.microsoft.com/office/drawing/2014/main" val="3105302029"/>
                    </a:ext>
                  </a:extLst>
                </a:gridCol>
                <a:gridCol w="844779">
                  <a:extLst>
                    <a:ext uri="{9D8B030D-6E8A-4147-A177-3AD203B41FA5}">
                      <a16:colId xmlns:a16="http://schemas.microsoft.com/office/drawing/2014/main" val="2088733861"/>
                    </a:ext>
                  </a:extLst>
                </a:gridCol>
                <a:gridCol w="844779">
                  <a:extLst>
                    <a:ext uri="{9D8B030D-6E8A-4147-A177-3AD203B41FA5}">
                      <a16:colId xmlns:a16="http://schemas.microsoft.com/office/drawing/2014/main" val="3670907872"/>
                    </a:ext>
                  </a:extLst>
                </a:gridCol>
                <a:gridCol w="844779">
                  <a:extLst>
                    <a:ext uri="{9D8B030D-6E8A-4147-A177-3AD203B41FA5}">
                      <a16:colId xmlns:a16="http://schemas.microsoft.com/office/drawing/2014/main" val="2032101677"/>
                    </a:ext>
                  </a:extLst>
                </a:gridCol>
              </a:tblGrid>
              <a:tr h="2654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机型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TCP</a:t>
                      </a:r>
                      <a:r>
                        <a:rPr lang="zh-CN" sz="1050" kern="100">
                          <a:effectLst/>
                        </a:rPr>
                        <a:t>——</a:t>
                      </a:r>
                      <a:r>
                        <a:rPr lang="en-US" sz="1050" kern="100">
                          <a:effectLst/>
                        </a:rPr>
                        <a:t>Static IP</a:t>
                      </a:r>
                      <a:r>
                        <a:rPr lang="zh-CN" sz="1050" kern="100">
                          <a:effectLst/>
                        </a:rPr>
                        <a:t>拨号（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——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PPPoE</a:t>
                      </a: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拨号（</a:t>
                      </a: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Mbps</a:t>
                      </a: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234240"/>
                  </a:ext>
                </a:extLst>
              </a:tr>
              <a:tr h="2654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双向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2397257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 ER8411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9445.82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9449.26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18669.96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9413.96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9102.01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11310.41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1019986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UBNT UDM-Pro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7875.15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7764.76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6209.24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1570.72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852.53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1058.97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6542288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MikroTik CCR1009-7G-1C-1S+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</a:rPr>
                        <a:t>只有一个万兆口，此项无法测试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只有一个万兆口，此项无法测试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989383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MikroTik CCR2004-1G-12S+2XS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8177.64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9045.38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8294.95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3782.18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3771.14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3702.12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83168204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784192" y="694652"/>
            <a:ext cx="6859481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ER8411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开发了多种专业的加速引擎，因而其在各种拨号方式下的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TCP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报文转发性能均显著</a:t>
            </a:r>
            <a:r>
              <a:rPr kumimoji="1" lang="zh-CN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优于竞</a:t>
            </a:r>
            <a:r>
              <a:rPr kumimoji="1" lang="zh-CN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品</a:t>
            </a:r>
            <a:r>
              <a:rPr kumimoji="1" lang="zh-CN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kumimoji="1" lang="en-US" altLang="zh-CN" sz="1100" dirty="0" smtClean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ER8411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在不同包长下的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UDP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报文转发速率全面显著优于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UDM-Pro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kumimoji="1" lang="en-US" altLang="zh-CN" sz="1100" dirty="0" smtClean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ER8411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SSL VPN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kumimoji="1" lang="en-US" altLang="zh-CN" sz="1100" dirty="0" err="1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IPSec</a:t>
            </a:r>
            <a:r>
              <a:rPr kumimoji="1" lang="en-US" altLang="zh-CN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VPN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功能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性能优于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UDM-Pro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kumimoji="1" lang="en-US" altLang="zh-CN" sz="1100" dirty="0" err="1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MikroTik</a:t>
            </a:r>
            <a:r>
              <a:rPr kumimoji="1" lang="en-US" altLang="zh-CN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router</a:t>
            </a:r>
            <a:r>
              <a:rPr kumimoji="1" lang="zh-CN" altLang="en-US" sz="1100" dirty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的相应竞</a:t>
            </a:r>
            <a:r>
              <a:rPr kumimoji="1" lang="zh-CN" altLang="en-US" sz="11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品；</a:t>
            </a:r>
            <a:endParaRPr kumimoji="1" lang="zh-CN" altLang="en-US" sz="1100" dirty="0">
              <a:solidFill>
                <a:srgbClr val="005565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64946" y="4464733"/>
          <a:ext cx="6601681" cy="10617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3225">
                  <a:extLst>
                    <a:ext uri="{9D8B030D-6E8A-4147-A177-3AD203B41FA5}">
                      <a16:colId xmlns:a16="http://schemas.microsoft.com/office/drawing/2014/main" val="2726706626"/>
                    </a:ext>
                  </a:extLst>
                </a:gridCol>
                <a:gridCol w="607214">
                  <a:extLst>
                    <a:ext uri="{9D8B030D-6E8A-4147-A177-3AD203B41FA5}">
                      <a16:colId xmlns:a16="http://schemas.microsoft.com/office/drawing/2014/main" val="3831253753"/>
                    </a:ext>
                  </a:extLst>
                </a:gridCol>
                <a:gridCol w="607214">
                  <a:extLst>
                    <a:ext uri="{9D8B030D-6E8A-4147-A177-3AD203B41FA5}">
                      <a16:colId xmlns:a16="http://schemas.microsoft.com/office/drawing/2014/main" val="3626391249"/>
                    </a:ext>
                  </a:extLst>
                </a:gridCol>
                <a:gridCol w="574794">
                  <a:extLst>
                    <a:ext uri="{9D8B030D-6E8A-4147-A177-3AD203B41FA5}">
                      <a16:colId xmlns:a16="http://schemas.microsoft.com/office/drawing/2014/main" val="4213922069"/>
                    </a:ext>
                  </a:extLst>
                </a:gridCol>
                <a:gridCol w="574794">
                  <a:extLst>
                    <a:ext uri="{9D8B030D-6E8A-4147-A177-3AD203B41FA5}">
                      <a16:colId xmlns:a16="http://schemas.microsoft.com/office/drawing/2014/main" val="2530122695"/>
                    </a:ext>
                  </a:extLst>
                </a:gridCol>
                <a:gridCol w="574794">
                  <a:extLst>
                    <a:ext uri="{9D8B030D-6E8A-4147-A177-3AD203B41FA5}">
                      <a16:colId xmlns:a16="http://schemas.microsoft.com/office/drawing/2014/main" val="1124528904"/>
                    </a:ext>
                  </a:extLst>
                </a:gridCol>
                <a:gridCol w="574794">
                  <a:extLst>
                    <a:ext uri="{9D8B030D-6E8A-4147-A177-3AD203B41FA5}">
                      <a16:colId xmlns:a16="http://schemas.microsoft.com/office/drawing/2014/main" val="1939401904"/>
                    </a:ext>
                  </a:extLst>
                </a:gridCol>
                <a:gridCol w="574794">
                  <a:extLst>
                    <a:ext uri="{9D8B030D-6E8A-4147-A177-3AD203B41FA5}">
                      <a16:colId xmlns:a16="http://schemas.microsoft.com/office/drawing/2014/main" val="568240050"/>
                    </a:ext>
                  </a:extLst>
                </a:gridCol>
                <a:gridCol w="670029">
                  <a:extLst>
                    <a:ext uri="{9D8B030D-6E8A-4147-A177-3AD203B41FA5}">
                      <a16:colId xmlns:a16="http://schemas.microsoft.com/office/drawing/2014/main" val="3181290932"/>
                    </a:ext>
                  </a:extLst>
                </a:gridCol>
                <a:gridCol w="670029">
                  <a:extLst>
                    <a:ext uri="{9D8B030D-6E8A-4147-A177-3AD203B41FA5}">
                      <a16:colId xmlns:a16="http://schemas.microsoft.com/office/drawing/2014/main" val="374955012"/>
                    </a:ext>
                  </a:extLst>
                </a:gridCol>
              </a:tblGrid>
              <a:tr h="265430">
                <a:tc row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机型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64</a:t>
                      </a:r>
                      <a:r>
                        <a:rPr lang="zh-CN" sz="1050" kern="100">
                          <a:effectLst/>
                        </a:rPr>
                        <a:t>字节（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1518</a:t>
                      </a:r>
                      <a:r>
                        <a:rPr lang="zh-CN" sz="1050" kern="100">
                          <a:effectLst/>
                        </a:rPr>
                        <a:t>字节（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Imix</a:t>
                      </a:r>
                      <a:r>
                        <a:rPr lang="zh-CN" sz="1050" kern="100">
                          <a:effectLst/>
                        </a:rPr>
                        <a:t>包长（</a:t>
                      </a:r>
                      <a:r>
                        <a:rPr lang="en-US" sz="1050" kern="100">
                          <a:effectLst/>
                        </a:rPr>
                        <a:t>Mbps</a:t>
                      </a:r>
                      <a:r>
                        <a:rPr lang="zh-CN" sz="1050" kern="100">
                          <a:effectLst/>
                        </a:rPr>
                        <a:t>）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436668"/>
                  </a:ext>
                </a:extLst>
              </a:tr>
              <a:tr h="2654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上行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下行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双向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5237169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TP-Link ER8411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1080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1030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1720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9970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9970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19260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5320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4630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7500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90678087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UBNT UDM-Pro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75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1300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1300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1270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320</a:t>
                      </a:r>
                      <a:endParaRPr lang="zh-CN" sz="1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320</a:t>
                      </a:r>
                      <a:endParaRPr lang="zh-CN" sz="1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4289941"/>
                  </a:ext>
                </a:extLst>
              </a:tr>
            </a:tbl>
          </a:graphicData>
        </a:graphic>
      </p:graphicFrame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27807" y="248531"/>
            <a:ext cx="10913234" cy="373579"/>
          </a:xfrm>
        </p:spPr>
        <p:txBody>
          <a:bodyPr/>
          <a:lstStyle/>
          <a:p>
            <a:r>
              <a:rPr lang="en-US" altLang="zh-CN" dirty="0" smtClean="0"/>
              <a:t>ER8411</a:t>
            </a:r>
            <a:r>
              <a:rPr lang="zh-CN" altLang="en-US" dirty="0" smtClean="0"/>
              <a:t>竞品对比</a:t>
            </a:r>
            <a:endParaRPr lang="zh-CN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211620" y="1882231"/>
          <a:ext cx="4785064" cy="3966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9173">
                  <a:extLst>
                    <a:ext uri="{9D8B030D-6E8A-4147-A177-3AD203B41FA5}">
                      <a16:colId xmlns:a16="http://schemas.microsoft.com/office/drawing/2014/main" val="673580835"/>
                    </a:ext>
                  </a:extLst>
                </a:gridCol>
                <a:gridCol w="879173">
                  <a:extLst>
                    <a:ext uri="{9D8B030D-6E8A-4147-A177-3AD203B41FA5}">
                      <a16:colId xmlns:a16="http://schemas.microsoft.com/office/drawing/2014/main" val="186691597"/>
                    </a:ext>
                  </a:extLst>
                </a:gridCol>
                <a:gridCol w="706827">
                  <a:extLst>
                    <a:ext uri="{9D8B030D-6E8A-4147-A177-3AD203B41FA5}">
                      <a16:colId xmlns:a16="http://schemas.microsoft.com/office/drawing/2014/main" val="1078185144"/>
                    </a:ext>
                  </a:extLst>
                </a:gridCol>
                <a:gridCol w="706827">
                  <a:extLst>
                    <a:ext uri="{9D8B030D-6E8A-4147-A177-3AD203B41FA5}">
                      <a16:colId xmlns:a16="http://schemas.microsoft.com/office/drawing/2014/main" val="2456228387"/>
                    </a:ext>
                  </a:extLst>
                </a:gridCol>
                <a:gridCol w="806532">
                  <a:extLst>
                    <a:ext uri="{9D8B030D-6E8A-4147-A177-3AD203B41FA5}">
                      <a16:colId xmlns:a16="http://schemas.microsoft.com/office/drawing/2014/main" val="2573987851"/>
                    </a:ext>
                  </a:extLst>
                </a:gridCol>
                <a:gridCol w="806532">
                  <a:extLst>
                    <a:ext uri="{9D8B030D-6E8A-4147-A177-3AD203B41FA5}">
                      <a16:colId xmlns:a16="http://schemas.microsoft.com/office/drawing/2014/main" val="407213659"/>
                    </a:ext>
                  </a:extLst>
                </a:gridCol>
              </a:tblGrid>
              <a:tr h="223311">
                <a:tc grid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VPN</a:t>
                      </a:r>
                      <a:r>
                        <a:rPr lang="zh-CN" sz="700">
                          <a:effectLst/>
                        </a:rPr>
                        <a:t>性能数据 </a:t>
                      </a:r>
                      <a:r>
                        <a:rPr lang="en-US" sz="700">
                          <a:effectLst/>
                        </a:rPr>
                        <a:t>(TCP</a:t>
                      </a:r>
                      <a:r>
                        <a:rPr lang="zh-CN" sz="700">
                          <a:effectLst/>
                        </a:rPr>
                        <a:t>报文</a:t>
                      </a:r>
                      <a:r>
                        <a:rPr lang="en-US" sz="700">
                          <a:effectLst/>
                        </a:rPr>
                        <a:t>  Mbps)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294677"/>
                  </a:ext>
                </a:extLst>
              </a:tr>
              <a:tr h="3460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VPN</a:t>
                      </a:r>
                      <a:r>
                        <a:rPr lang="zh-CN" sz="700">
                          <a:effectLst/>
                        </a:rPr>
                        <a:t>类型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加密算法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ER8411v1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UDM-Pro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CCR1009-7G-1C-1S+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CCR2004-1G-12S+2XS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1294380257"/>
                  </a:ext>
                </a:extLst>
              </a:tr>
              <a:tr h="235065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SSLVPN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1511.094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2654521932"/>
                  </a:ext>
                </a:extLst>
              </a:tr>
              <a:tr h="346016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OpenVPN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1665.649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仅支持</a:t>
                      </a:r>
                      <a:r>
                        <a:rPr lang="en-US" sz="700">
                          <a:effectLst/>
                        </a:rPr>
                        <a:t>OpenVPN Server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暂未成功建立隧道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暂未成功建立隧道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1979308428"/>
                  </a:ext>
                </a:extLst>
              </a:tr>
              <a:tr h="235065">
                <a:tc row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IPSEC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esp-md5-3des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1621.67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126.836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662.557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732.429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2815464862"/>
                  </a:ext>
                </a:extLst>
              </a:tr>
              <a:tr h="2350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esp-md5-aes256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2081.717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321.134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660.521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1530.357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1472351940"/>
                  </a:ext>
                </a:extLst>
              </a:tr>
              <a:tr h="2350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esp-sha1-3des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1698.74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129.694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665.442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728.245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4108680852"/>
                  </a:ext>
                </a:extLst>
              </a:tr>
              <a:tr h="2350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esp-sha1-aes256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2140.451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298.253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661.042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1672.768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2272658713"/>
                  </a:ext>
                </a:extLst>
              </a:tr>
              <a:tr h="2350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esp-sha2-3des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1620.444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134.846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不支持此种加密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不支持此种加密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2038466085"/>
                  </a:ext>
                </a:extLst>
              </a:tr>
              <a:tr h="23506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esp-sha2-aes256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2080.197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259.958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不支持此种加密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不支持此种加密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3719852039"/>
                  </a:ext>
                </a:extLst>
              </a:tr>
              <a:tr h="346016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L2TP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Encrypted LAN-to-LAN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1888.295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仅支持</a:t>
                      </a:r>
                      <a:r>
                        <a:rPr lang="en-US" sz="700">
                          <a:effectLst/>
                        </a:rPr>
                        <a:t>L2TP Server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1877212196"/>
                  </a:ext>
                </a:extLst>
              </a:tr>
              <a:tr h="3460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Encrypted Client-to-LAN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2274.743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311.911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785.019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1135240445"/>
                  </a:ext>
                </a:extLst>
              </a:tr>
              <a:tr h="346016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PPTP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Encrypted LAN-to-LAN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189.912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 dirty="0">
                          <a:effectLst/>
                        </a:rPr>
                        <a:t>不支持此功能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700">
                          <a:effectLst/>
                        </a:rPr>
                        <a:t>不支持此功能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843009138"/>
                  </a:ext>
                </a:extLst>
              </a:tr>
              <a:tr h="3460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Encrypted Client-to-LAN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170.049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439.139</a:t>
                      </a:r>
                      <a:endParaRPr lang="zh-CN" sz="1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831.746</a:t>
                      </a:r>
                      <a:endParaRPr lang="zh-CN" sz="1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1024" marR="61024" marT="0" marB="0" anchor="ctr"/>
                </a:tc>
                <a:extLst>
                  <a:ext uri="{0D108BD9-81ED-4DB2-BD59-A6C34878D82A}">
                    <a16:rowId xmlns:a16="http://schemas.microsoft.com/office/drawing/2014/main" val="3398428460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64946" y="157445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【TCP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>
          <a:xfrm>
            <a:off x="464946" y="4156956"/>
            <a:ext cx="12827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【UDP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7211617" y="1574454"/>
            <a:ext cx="12731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【VPN</a:t>
            </a:r>
            <a:r>
              <a:rPr kumimoji="1" lang="zh-CN" altLang="en-US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</a:t>
            </a:r>
            <a:r>
              <a:rPr kumimoji="1" lang="en-US" altLang="zh-CN" sz="1400" dirty="0" smtClean="0">
                <a:solidFill>
                  <a:srgbClr val="005565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】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0043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63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16937</TotalTime>
  <Words>11188</Words>
  <Application>Microsoft Office PowerPoint</Application>
  <PresentationFormat>宽屏</PresentationFormat>
  <Paragraphs>4501</Paragraphs>
  <Slides>44</Slides>
  <Notes>24</Notes>
  <HiddenSlides>9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Arial Unicode MS</vt:lpstr>
      <vt:lpstr>TP-Link Aktiv</vt:lpstr>
      <vt:lpstr>TP-Link Aktiv Light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主题</vt:lpstr>
      <vt:lpstr>Switch 竞品对比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Business Networking</vt:lpstr>
      <vt:lpstr>PowerPoint 演示文稿</vt:lpstr>
      <vt:lpstr>PowerPoint 演示文稿</vt:lpstr>
      <vt:lpstr>PowerPoint 演示文稿</vt:lpstr>
      <vt:lpstr>PowerPoint 演示文稿</vt:lpstr>
      <vt:lpstr>ER707-M2竞品对比</vt:lpstr>
      <vt:lpstr>ER707-M2竞品对比</vt:lpstr>
      <vt:lpstr>ER8411竞品对比</vt:lpstr>
      <vt:lpstr>ER8411竞品对比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Penry TPG</cp:lastModifiedBy>
  <cp:revision>245</cp:revision>
  <dcterms:created xsi:type="dcterms:W3CDTF">2020-12-09T00:39:32Z</dcterms:created>
  <dcterms:modified xsi:type="dcterms:W3CDTF">2024-02-05T11:02:11Z</dcterms:modified>
</cp:coreProperties>
</file>