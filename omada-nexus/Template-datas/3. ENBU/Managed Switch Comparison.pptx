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4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4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51" r:id="rId2"/>
    <p:sldId id="352" r:id="rId3"/>
    <p:sldId id="348" r:id="rId4"/>
    <p:sldId id="282" r:id="rId5"/>
    <p:sldId id="354" r:id="rId6"/>
    <p:sldId id="353" r:id="rId7"/>
    <p:sldId id="283" r:id="rId8"/>
    <p:sldId id="284" r:id="rId9"/>
    <p:sldId id="285" r:id="rId10"/>
    <p:sldId id="286" r:id="rId11"/>
    <p:sldId id="287" r:id="rId12"/>
    <p:sldId id="288" r:id="rId13"/>
    <p:sldId id="291" r:id="rId14"/>
    <p:sldId id="289" r:id="rId15"/>
    <p:sldId id="356" r:id="rId16"/>
    <p:sldId id="290" r:id="rId17"/>
    <p:sldId id="355" r:id="rId18"/>
    <p:sldId id="292" r:id="rId19"/>
    <p:sldId id="293" r:id="rId20"/>
    <p:sldId id="334" r:id="rId21"/>
    <p:sldId id="296" r:id="rId22"/>
    <p:sldId id="341" r:id="rId23"/>
    <p:sldId id="297" r:id="rId24"/>
    <p:sldId id="305" r:id="rId25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0"/>
    <a:srgbClr val="2ABDF2"/>
    <a:srgbClr val="D2DEEF"/>
    <a:srgbClr val="EAEFF7"/>
    <a:srgbClr val="005565"/>
    <a:srgbClr val="50BDC9"/>
    <a:srgbClr val="DEEBF7"/>
    <a:srgbClr val="005464"/>
    <a:srgbClr val="8DDCF8"/>
    <a:srgbClr val="E5E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A8230-6016-4ED4-A0AF-2A150E01635E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4AC88-B0F3-4232-84F4-6989C7E76D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4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5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6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7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8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9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11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13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14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16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18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19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21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23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22101" y="6565054"/>
            <a:ext cx="469900" cy="139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36" y="6406303"/>
            <a:ext cx="780651" cy="3002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300039" y="251836"/>
            <a:ext cx="301957" cy="3019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93791" y="6584104"/>
            <a:ext cx="4178300" cy="101600"/>
          </a:xfrm>
          <a:prstGeom prst="rect">
            <a:avLst/>
          </a:prstGeom>
        </p:spPr>
      </p:pic>
      <p:sp>
        <p:nvSpPr>
          <p:cNvPr id="11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>
            <a:lvl1pPr>
              <a:defRPr sz="10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45E168-1219-CD4A-80ED-4291B526AB8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21202"/>
            <a:ext cx="12192000" cy="23367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08320" y="6065234"/>
            <a:ext cx="975360" cy="3690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87700" y="2788955"/>
            <a:ext cx="5816600" cy="568891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472815" y="3357880"/>
            <a:ext cx="5247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564"/>
                </a:solidFill>
              </a:rPr>
              <a:t>©2020 TP-Link, Inc. Confidential Information. Not for distribution or reproduction.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大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036" y="6406303"/>
            <a:ext cx="780651" cy="30025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2101" y="6565054"/>
            <a:ext cx="469900" cy="139700"/>
          </a:xfrm>
          <a:prstGeom prst="rect">
            <a:avLst/>
          </a:prstGeom>
        </p:spPr>
      </p:pic>
      <p:sp>
        <p:nvSpPr>
          <p:cNvPr id="21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>
            <a:lvl1pPr>
              <a:defRPr sz="10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45E168-1219-CD4A-80ED-4291B526AB8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标题 1"/>
          <p:cNvSpPr>
            <a:spLocks noGrp="1"/>
          </p:cNvSpPr>
          <p:nvPr>
            <p:ph type="title" hasCustomPrompt="1"/>
          </p:nvPr>
        </p:nvSpPr>
        <p:spPr>
          <a:xfrm>
            <a:off x="944461" y="2782197"/>
            <a:ext cx="10515600" cy="208422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1" i="0">
                <a:solidFill>
                  <a:srgbClr val="0055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</a:t>
            </a:r>
            <a:br>
              <a:rPr kumimoji="1" lang="en-US" altLang="zh-CN" dirty="0"/>
            </a:br>
            <a:r>
              <a:rPr kumimoji="1" lang="en-US" altLang="zh-CN" dirty="0"/>
              <a:t>Headline</a:t>
            </a:r>
            <a:br>
              <a:rPr kumimoji="1" lang="en-US" altLang="zh-CN" dirty="0"/>
            </a:br>
            <a:r>
              <a:rPr kumimoji="1" lang="en-US" altLang="zh-CN" dirty="0"/>
              <a:t>Divided or Key Word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 userDrawn="1"/>
        </p:nvSpPr>
        <p:spPr>
          <a:xfrm>
            <a:off x="7299333" y="6474271"/>
            <a:ext cx="4504376" cy="298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rgbClr val="0055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kumimoji="1" lang="en-US" altLang="zh-CN" sz="900" b="0" dirty="0">
                <a:solidFill>
                  <a:schemeClr val="bg1">
                    <a:lumMod val="75000"/>
                  </a:schemeClr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© 2021 TP-Link, Inc Confidential information. Not for distribution or reproduction.</a:t>
            </a:r>
            <a:endParaRPr kumimoji="1" lang="zh-CN" altLang="en-US" sz="900" b="0" dirty="0">
              <a:solidFill>
                <a:schemeClr val="bg1">
                  <a:lumMod val="75000"/>
                </a:schemeClr>
              </a:solidFill>
              <a:latin typeface="TP-Link Aktiv" panose="020B0504020202020204" pitchFamily="34" charset="0"/>
              <a:cs typeface="TP-Link Aktiv" panose="020B05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3B53A-4DB8-4802-B247-F01D22C291CF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10.png"/><Relationship Id="rId4" Type="http://schemas.openxmlformats.org/officeDocument/2006/relationships/tags" Target="../tags/tag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56514" y="2427090"/>
            <a:ext cx="3556518" cy="2084227"/>
          </a:xfrm>
        </p:spPr>
        <p:txBody>
          <a:bodyPr/>
          <a:lstStyle/>
          <a:p>
            <a:r>
              <a:rPr lang="en-US" altLang="zh-CN" sz="3600" dirty="0">
                <a:solidFill>
                  <a:srgbClr val="005565"/>
                </a:solidFill>
                <a:ea typeface="Arial Unicode MS" panose="020B0604020202020204" pitchFamily="34" charset="-122"/>
              </a:rPr>
              <a:t>Business Networking</a:t>
            </a:r>
            <a:endParaRPr kumimoji="1" lang="zh-CN" altLang="en-US" sz="3600" dirty="0">
              <a:solidFill>
                <a:srgbClr val="005565"/>
              </a:solidFill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4695190" y="2096770"/>
            <a:ext cx="5092700" cy="164084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4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None/>
              <a:tabLst>
                <a:tab pos="3943350" algn="l"/>
              </a:tabLst>
            </a:pPr>
            <a:endParaRPr lang="en-US" altLang="zh-CN" sz="2400" dirty="0" smtClean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</a:endParaRPr>
          </a:p>
          <a:p>
            <a:pPr marL="285750" lvl="1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  <a:tabLst>
                <a:tab pos="3943350" algn="l"/>
              </a:tabLst>
            </a:pPr>
            <a:r>
              <a:rPr lang="en-US" altLang="zh-CN" sz="2400" b="1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  <a:sym typeface="+mn-ea"/>
              </a:rPr>
              <a:t> </a:t>
            </a:r>
            <a:r>
              <a:rPr lang="en-US" altLang="zh-CN" sz="2400" b="1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  <a:sym typeface="+mn-ea"/>
              </a:rPr>
              <a:t>Managed Switch</a:t>
            </a:r>
            <a:r>
              <a:rPr lang="zh-CN" altLang="en-US" sz="2400" b="1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 </a:t>
            </a:r>
            <a:r>
              <a:rPr lang="en-US" altLang="zh-CN" sz="2400" b="1" dirty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C</a:t>
            </a:r>
            <a:r>
              <a:rPr lang="zh-CN" altLang="en-US" sz="2400" b="1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o</a:t>
            </a:r>
            <a:r>
              <a:rPr lang="zh-CN" altLang="en-US" sz="2400" b="1" dirty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mparison</a:t>
            </a:r>
          </a:p>
          <a:p>
            <a:pPr marL="0" lvl="1" indent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None/>
              <a:tabLst>
                <a:tab pos="3943350" algn="l"/>
              </a:tabLst>
            </a:pPr>
            <a:r>
              <a:rPr lang="en-US" altLang="zh-CN" sz="2400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  <a:sym typeface="+mn-ea"/>
              </a:rPr>
              <a:t>		</a:t>
            </a:r>
            <a:endParaRPr lang="en-US" altLang="zh-CN" sz="2400" dirty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  <a:sym typeface="+mn-ea"/>
            </a:endParaRPr>
          </a:p>
        </p:txBody>
      </p:sp>
      <p:sp>
        <p:nvSpPr>
          <p:cNvPr id="7" name="灯片编号占位符 16"/>
          <p:cNvSpPr txBox="1"/>
          <p:nvPr/>
        </p:nvSpPr>
        <p:spPr>
          <a:xfrm>
            <a:off x="11422080" y="6450760"/>
            <a:ext cx="72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45E168-1219-CD4A-80ED-4291B526AB8C}" type="slidenum">
              <a:rPr kumimoji="1" lang="zh-CN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kumimoji="1"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" y="0"/>
            <a:ext cx="5172892" cy="6858000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2397" y="4444489"/>
            <a:ext cx="31941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200" b="1" i="0" kern="120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defRPr>
            </a:lvl1pPr>
          </a:lstStyle>
          <a:p>
            <a:r>
              <a:rPr kumimoji="1" lang="en-US" altLang="zh-CN" dirty="0" smtClean="0"/>
              <a:t>Contents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148" y="261809"/>
            <a:ext cx="990600" cy="368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047337" y="812789"/>
          <a:ext cx="10040872" cy="531317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26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9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TL-SX3016F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US-16-XG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DXS-1100-16SC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CRS317-1G-16S+RM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10G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12* SFP+ + 4* 10GE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14* SFP+ + 2* 10GE/SFP+</a:t>
                      </a:r>
                      <a:r>
                        <a:rPr lang="en-US" altLang="zh-CN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Combo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sv-SE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GE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+ 16*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4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4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47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2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Redundant power supply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850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</a:t>
                      </a:r>
                      <a:r>
                        <a:rPr lang="en-US" altLang="zh-CN" sz="9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50-60 Hz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48/24 VDC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32.7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Fixd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Fixed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Fixed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Flexible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(10G Fiber Switch-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TL-SX3016F)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3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91726" y="626358"/>
          <a:ext cx="10040871" cy="581487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94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TL-SX3008F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USW-Aggregation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CRS309-1G-8S+IN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10G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 10G SFP+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sv-SE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GE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sv-SE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1*RB232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4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 MB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51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4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47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OAM/ DDM/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2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asing &amp;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Plastic &amp; Desktop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850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802.3at PoE in;</a:t>
                      </a:r>
                      <a:b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12-57 VDC Adaptor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15.5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 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× 180 × 44 mm (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rack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× 120 × 44 mm (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rack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272 × 191 × 44 mm (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rack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(10G Fiber Switch-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TL-SX3008F)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4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683354" y="546809"/>
          <a:ext cx="10565391" cy="623951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3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27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45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Trend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TL-SG3210XHP-M2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USW-Enterprise-8-PoE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DMS-1100-10TP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M4200-10MG-PoE+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TPE-30102WS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6* 2.5G RJ45 + 2* 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MGMT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+, 120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Mbit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0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58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uture upgrade)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RIP dynamic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8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49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TLS Version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LAG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Groups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asing &amp;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Plastic &amp; Desktop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(2.5G PoE Switch----TL-SG3210XHP-M2)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5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标题 2"/>
          <p:cNvSpPr txBox="1"/>
          <p:nvPr/>
        </p:nvSpPr>
        <p:spPr>
          <a:xfrm>
            <a:off x="683354" y="12829"/>
            <a:ext cx="10103015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(24 SFP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Switch with 10G Uplink----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TL-SG3428XF)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011870"/>
              </p:ext>
            </p:extLst>
          </p:nvPr>
        </p:nvGraphicFramePr>
        <p:xfrm>
          <a:off x="1495037" y="973368"/>
          <a:ext cx="8332545" cy="47260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0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0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TP-Link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TL-SG3428XF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D-Link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DGS-1210-28XS/ME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MikroTik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CRS328-4C-20S-4S+RM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Ports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 SFP + 4 SFP/RJ45 Combo + 4 SFP+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 SFP + 4 SFP+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 SFP + 4 SFP/RJ45 Combo + 4 SFP+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</a:rPr>
                        <a:t>Console</a:t>
                      </a:r>
                      <a:r>
                        <a:rPr lang="en-US" sz="1000" kern="100" baseline="0" dirty="0">
                          <a:effectLst/>
                        </a:rPr>
                        <a:t> </a:t>
                      </a:r>
                      <a:r>
                        <a:rPr lang="en-US" sz="1000" kern="100" baseline="0" dirty="0" smtClean="0">
                          <a:effectLst/>
                        </a:rPr>
                        <a:t>Ports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 RJ45 + 1 Micro-USB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SDN support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MAC Address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16K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16K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16K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Packet Buffer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1.5MB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1.5MB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1.5MB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Flash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32MB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32MB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16MB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Fan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4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VLAN Group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4K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4K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9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IP Interface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—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Static route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48 (IPv4, IPv6)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64 IPv4, 32 IPv6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79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Server,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Relay,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Server,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Relay,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1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ISP Feature*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OAM, L2TP, DDM, sFlow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OAM, DDM, Dying Gasp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2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Advance Feature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√（</a:t>
                      </a:r>
                      <a:r>
                        <a:rPr lang="en-US" sz="1000" kern="100" dirty="0">
                          <a:effectLst/>
                        </a:rPr>
                        <a:t>RIP</a:t>
                      </a:r>
                      <a:r>
                        <a:rPr lang="zh-CN" sz="1000" kern="100" dirty="0">
                          <a:effectLst/>
                        </a:rPr>
                        <a:t>、</a:t>
                      </a:r>
                      <a:r>
                        <a:rPr lang="en-US" sz="1000" kern="100" dirty="0">
                          <a:effectLst/>
                        </a:rPr>
                        <a:t>OSPF</a:t>
                      </a:r>
                      <a:r>
                        <a:rPr lang="zh-CN" sz="1000" kern="100" dirty="0">
                          <a:effectLst/>
                        </a:rPr>
                        <a:t>、</a:t>
                      </a:r>
                      <a:r>
                        <a:rPr lang="en-US" sz="1000" kern="100" dirty="0">
                          <a:effectLst/>
                        </a:rPr>
                        <a:t>BGP</a:t>
                      </a:r>
                      <a:r>
                        <a:rPr lang="zh-CN" sz="1000" kern="100" dirty="0">
                          <a:effectLst/>
                        </a:rPr>
                        <a:t>）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6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标题 2"/>
          <p:cNvSpPr txBox="1"/>
          <p:nvPr/>
        </p:nvSpPr>
        <p:spPr>
          <a:xfrm>
            <a:off x="683354" y="12829"/>
            <a:ext cx="10103015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(48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Switch with 10G Uplink----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TL-SG3452X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42873" y="641479"/>
          <a:ext cx="9339311" cy="55751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8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82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TP-Link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TL-SG3452X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UBNT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USW-Pro-48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D-Link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DGS-3000-52X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NetGear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GC752X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Aruba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2540 48G 4SFP+ Switch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RJ45 + 2 SFP + 2 SFP+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Console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Micro-USB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3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 (IPv4, IPv6)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IPv4, 32 IPv6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IPv4, 31 IPv6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(IPv4, IPv6)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37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Server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DHCP Server, DHCP Relay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22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ISP Feature*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OAM, L2TP, DDM, sFlow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OAM, L2TP, sFlow, Dying Gasp, CFM, Y.1731 OAM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sFlow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RPS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2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PoE budget</a:t>
                      </a:r>
                      <a:endParaRPr lang="en-US" altLang="zh-CN" sz="9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32.7W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40.7W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43.9W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46.6W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1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None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7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73829" y="590550"/>
          <a:ext cx="11162922" cy="585084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TL-SG3428XMP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USW-Pro-24-PoE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DGS-3000-28XMP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GC728XP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MS125-24P-HW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2540 24G PoE+ 4SFP+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10G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nl-NL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384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PoE+, 8 PoE++, 400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390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Ingress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62.2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Egress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DCHP Ser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DDM/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64776" y="12829"/>
            <a:ext cx="9456999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Switch with 10G Uplink----TL-SG3428XMP)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8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64304" y="625284"/>
          <a:ext cx="10810472" cy="587514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35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6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TL-SG3428X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USW-Pro-24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DGS-3000-28X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GC728X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MS125-24-HW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2540 24G 4SFP+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 GE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10G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nl-NL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Ingress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62.2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Egress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DCHP Ser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DDM/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64304" y="12829"/>
            <a:ext cx="8715086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Switch with 10G Uplink----TL-SG3428X)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9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79423" y="749109"/>
          <a:ext cx="11162922" cy="581037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TL-SG3452P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v1/v2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USW-48-PoE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DGS-1210-52MP/ME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GS752TP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MS120-48LP-HW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2530-48G-PoE+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195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 PoE, 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44783" y="91383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(48 GE PoE Switch----TL-SG3452P)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10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12798" y="653859"/>
          <a:ext cx="10583876" cy="58027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42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DGS-1210-52/ME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GS748T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MS120-48-HW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2530-48G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45254" y="40460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(48 GE Switch----TL-SG3452)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11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5729" y="558609"/>
          <a:ext cx="11162922" cy="6052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4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TL-SG3428MP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v2/v3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US-24-500W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DGS-1210-28MP/ME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M4100-26G-PoE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MS120-24P-HW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2530-24G-PoE+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3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470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380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 DDM,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35729" y="29991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Switch----TL-SG3428MP)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12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63677" y="558609"/>
          <a:ext cx="11162922" cy="575165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8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TL-SG3428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DGS-1210-28/ME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M4100-26G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MS120-24-HW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2530-24G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03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2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4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4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92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3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9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91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 DDM,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(Future upgrade)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Switch----TL-SG3428)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13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26636" y="627619"/>
          <a:ext cx="10795032" cy="565734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7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5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TL-SG3210 v3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DGS-1210-10/ME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GC110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2530-8G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8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0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 Group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511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512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5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5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62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4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DDM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4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11413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Switch----TL-SG3210)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14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62003" y="627619"/>
          <a:ext cx="10660077" cy="564935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4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Cisco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TL-SG2428P v1/v2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DBS-2000-28P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GS728TP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CBS250-24P-4G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GE/SFP Combo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250W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193W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 PoE,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192W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195W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3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097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Smart Switch----TL-SG2428P)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06353" y="1393795"/>
          <a:ext cx="7241152" cy="44392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59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9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8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76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100" dirty="0" smtClea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TL-SG2218P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UBNT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050">
                          <a:effectLst/>
                        </a:rPr>
                        <a:t>USW-16-PoE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NetGear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GS716TP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Cisco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CBS250-16P-2G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Ports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Gigabit RJ45 Ports + 2* Gigabit SFP Slots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PoE ports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PoE+,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PoE+,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PoE,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PoE,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PoE budget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150W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42W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180W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Packet Buffer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4.1 Mbit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 Mbit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 Mbit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MAC Address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VLAN Group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256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255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6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SDN Support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IP Interface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Static route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 (IPv4, IPv6)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 (IPv4, IPv6)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7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Server,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Relay,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Relay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6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Dimensions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17.3 × 7.1 × 1.7 in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(440 × 180 × 44 mm)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17.4 × 7.9 × 1.7 in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(442 × 200 × 44 mm)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17.3 × 8.0 × 1.7 in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(440 × 204 × 43 mm)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10.6 × 11.7 × 1.7 in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(268 × 297 × 44 mm)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2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Fanless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effectLst/>
                        </a:rPr>
                        <a:t>Fanless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(16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PoE Smart Switch----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TL-SG2218P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16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62003" y="676275"/>
          <a:ext cx="10660077" cy="535672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4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TL-SG2218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GS716Tv3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16G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512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206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20466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(16 GE Smart Switch----TL-SG2218)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91450" y="1216239"/>
          <a:ext cx="7630960" cy="47748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2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3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50" kern="100" dirty="0" smtClean="0">
                          <a:effectLst/>
                        </a:rPr>
                        <a:t>Vendor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TL-SG2016P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UBNT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050">
                          <a:effectLst/>
                        </a:rPr>
                        <a:t>USW-Lite-</a:t>
                      </a:r>
                      <a:r>
                        <a:rPr lang="en-US" sz="1050">
                          <a:effectLst/>
                        </a:rPr>
                        <a:t>16</a:t>
                      </a:r>
                      <a:r>
                        <a:rPr lang="pl-PL" sz="1050">
                          <a:effectLst/>
                        </a:rPr>
                        <a:t>-PoE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NetGear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GS516TP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Ports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Gigabit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Gigabit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16* Gigabit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PoE ports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PoE+,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PoE+,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PoE, max 15.4W/port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PoE budget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45W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76W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MAC Address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8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VLAN Group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256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8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SDN Support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IP Interface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Static route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 (IPv4, IPv6)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 (IPv4)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59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Server,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Relay, 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3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Dimensions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286*111.7*25.4 mm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191.7*185*43.7 mm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328*169*43 mm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Power Supply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53.5VDC/2.43A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100-240V AC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100-240V AC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Mounting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Desktop/ Wall-mount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Desktop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Rackmount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标题 2"/>
          <p:cNvSpPr txBox="1"/>
          <p:nvPr/>
        </p:nvSpPr>
        <p:spPr>
          <a:xfrm>
            <a:off x="671240" y="251286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(16 GE Smart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TL-SG2016P)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18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70233" y="676275"/>
          <a:ext cx="10660078" cy="5615883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1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TL-SG2210MP v1/v2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US-8-150W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DBS-2000-10MP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GS510TP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8G PoE+ (150W)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MS120-8FP-HW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150W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180W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124W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255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20466"/>
            <a:ext cx="795601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Switch----TL-SG2210MP)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19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31451" y="676275"/>
          <a:ext cx="10690629" cy="5615883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4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TL-SG2210P v3.2/v4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GS110TPv3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8G PoE+ (65W)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MS120-8FP-HW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61W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PoE, 46W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67W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Switch----TL-SG2210P)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20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94923" y="587226"/>
          <a:ext cx="9395984" cy="589654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37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HPE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TL-SG2008P v1/v2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USW-Lite-8-PoE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US-8-60W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l-PL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1920S 8G PPoE+ 65W Switch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PoE+, 62W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PoE+, 52W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PoE, 48W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tandard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802.3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af/at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802.3af/at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802.3af/at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Shell material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Plastic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Switch----TL-SG2008P)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21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43073" y="676274"/>
          <a:ext cx="10660078" cy="55107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1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8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TL-SG2008 v3/v4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MS120-8-HW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GS108Tv3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1920S 8G Switch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DGS-1210-10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 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6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7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71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76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V/1 A DC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V/0.5 A DC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 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 V/1.67 A 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V/1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 DC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 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 AC ~ 50/60 Hz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 AC ~ 50/60 Hz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4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Passthrough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(12W)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Switch----TL-SG2008)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22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标题 2"/>
          <p:cNvSpPr txBox="1"/>
          <p:nvPr/>
        </p:nvSpPr>
        <p:spPr>
          <a:xfrm>
            <a:off x="671943" y="228694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Switch)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custDataLst>
                  <p:tags r:id="rId1"/>
                </p:custDataLst>
              </p:nvPr>
            </p:nvGraphicFramePr>
            <p:xfrm>
              <a:off x="869131" y="1020282"/>
              <a:ext cx="10426200" cy="4423133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23058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103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990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Vendor</a:t>
                          </a:r>
                          <a:endParaRPr lang="zh-CN" alt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TP-Link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TL-SG2008P v1/v2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TL-SG2210P v3.2/v4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TL-SG2210MP v1/v2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Ports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GE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8* GE + 2* SFP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SDN 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upport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227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 PoE+, 62W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PoE+,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61W</a:t>
                          </a:r>
                          <a:endParaRPr lang="en-US" altLang="zh-CN" sz="9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PoE+, 150W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PoE power</a:t>
                          </a:r>
                        </a:p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/</a:t>
                          </a:r>
                          <a:r>
                            <a:rPr 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62</m:t>
                                  </m:r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15.5W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61</m:t>
                                  </m:r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altLang="zh-CN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7.6W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150</m:t>
                                  </m:r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altLang="zh-CN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18.7W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IP interfaces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4544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tatic </a:t>
                          </a:r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routing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(IPv4, IPv6)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8026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DHCP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Server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Relay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Snooping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Installation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Wall-mount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</a:t>
                          </a:r>
                          <a:r>
                            <a:rPr lang="en-US" altLang="zh-CN" sz="9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Rackmount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FAN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7967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The average PoE power of a single port is 15.5W, which is higher than 11ac EAP, that is, 4 PoE ports can be connected to 11ac EAP at the same time;</a:t>
                          </a: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 non-PoE ports can be used to connect wired devices;</a:t>
                          </a: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 fanless design, flexible deployment, can be used in home, office and other scenarios;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 PoE ports, the average PoE power of a single port is 7.6W, which can be fully loaded with 11ac panel APs;</a:t>
                          </a: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The optical port can meet the needs of long-distance transmission;</a:t>
                          </a: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Desktop fanless design, flexible deployment, can be used in home, office and other scenarios;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 PoE ports, the average PoE power of a single port is 18.7W, which can be fully loaded with 11ac EAP;</a:t>
                          </a: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The optical port can meet the needs of long-distance transmission;</a:t>
                          </a: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Rack-type design, which can meet the rack installation scenarios of small and medium-sized enterprises;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869131" y="1020282"/>
              <a:ext cx="10426200" cy="4113033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2305858"/>
                    <a:gridCol w="2510322"/>
                    <a:gridCol w="2805010"/>
                    <a:gridCol w="2805010"/>
                  </a:tblGrid>
                  <a:tr h="33990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Vendor</a:t>
                          </a:r>
                          <a:endParaRPr lang="zh-CN" alt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TP-Link</a:t>
                          </a:r>
                          <a:endParaRPr 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TL-SG2008P v1/v2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TL-SG2210P v3.2/v4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TL-SG2210MP v1/v2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Ports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GE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8* GE + 2* SFP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SDN 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upport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</a:tr>
                  <a:tr h="26227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 PoE+, 62W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PoE+,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61W</a:t>
                          </a:r>
                          <a:endParaRPr lang="en-US" altLang="zh-CN" sz="9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PoE+, 150W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PoE power</a:t>
                          </a:r>
                          <a:endParaRPr lang="en-US"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/</a:t>
                          </a:r>
                          <a:r>
                            <a:rPr 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IP interfaces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14544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tatic </a:t>
                          </a:r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routing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(IPv4, IPv6)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</a:tr>
                  <a:tr h="48026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DHCP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Server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Relay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Snooping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</a:tr>
                  <a:tr h="28971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Installation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Wall-mount</a:t>
                          </a:r>
                          <a:endParaRPr lang="en-US" altLang="zh-CN"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</a:t>
                          </a:r>
                          <a:r>
                            <a:rPr lang="en-US" altLang="zh-CN" sz="9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Rackmount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</a:tr>
                  <a:tr h="28971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FAN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7967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The average PoE power of a single port is 15.5W, which is higher than 11ac EAP, that is, 4 PoE ports can be connected to 11ac EAP at the same time;</a:t>
                          </a:r>
                          <a:endParaRPr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 non-PoE ports can be used to connect wired devices;</a:t>
                          </a:r>
                          <a:endParaRPr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defRPr/>
                          </a:pPr>
                          <a:r>
                            <a:rPr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 fanless design, flexible deployment, can be used in home, office and other scenarios;</a:t>
                          </a:r>
                          <a:endParaRPr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 PoE ports, the average PoE power of a single port is 7.6W, which can be fully loaded with 11ac panel APs;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The optical port can meet the needs of long-distance transmission;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Desktop fanless design, flexible deployment, can be used in home, office and other scenarios;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 PoE ports, the average PoE power of a single port is 18.7W, which can be fully loaded with 11ac EAP;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The optical port can meet the needs of long-distance transmission;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Rack-type design, which can meet the rack installation scenarios of small and medium-sized enterprises;</a:t>
                          </a:r>
                          <a:endParaRPr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23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89629" y="703429"/>
          <a:ext cx="10789345" cy="560990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9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8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ink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Trendnet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TL-SL2428P v4.2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FS728TP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DES-1210-28P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TPE-224WS (C1.0R)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FE + 2* GE + 2* GE/SFP C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ombo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250W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192W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PoE, 4 PoE+, 193W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PoE, 4 PoE+, 193W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9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7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0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88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FE Smart Switch----TL-SL2428P)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cf590d0-8db1-4d8b-a0e6-edad764caa62"/>
  <p:tag name="COMMONDATA" val="eyJoZGlkIjoiN2I0ZTNjYzYwMzkzODYwYTBmOTFhZmIwYjM2YjkxO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52f80a6-a18f-41b7-8533-dd055cf55ffc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7c07790-4d07-4cbd-9aff-a758847b615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e7ed132-29f6-4d25-83b4-7eb4f64e0e69}"/>
</p:tagLst>
</file>

<file path=ppt/tags/tag40.xml><?xml version="1.0" encoding="utf-8"?>
<p:tagLst xmlns:p="http://schemas.openxmlformats.org/presentationml/2006/main">
  <p:tag name="KSO_WM_UNIT_TABLE_BEAUTIFY" val="smartTable{be7ed132-29f6-4d25-83b4-7eb4f64e0e6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5033</Words>
  <Application>Microsoft Office PowerPoint</Application>
  <PresentationFormat>Widescreen</PresentationFormat>
  <Paragraphs>2432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 Unicode MS</vt:lpstr>
      <vt:lpstr>等线</vt:lpstr>
      <vt:lpstr>宋体</vt:lpstr>
      <vt:lpstr>TP-Link Aktiv</vt:lpstr>
      <vt:lpstr>TP-Link Aktiv Light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Business Networking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Max</cp:lastModifiedBy>
  <cp:revision>216</cp:revision>
  <dcterms:created xsi:type="dcterms:W3CDTF">2020-12-09T00:39:00Z</dcterms:created>
  <dcterms:modified xsi:type="dcterms:W3CDTF">2023-03-21T15:30:21Z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B0D71DB9F3B845C89E8AF21143D8460E</vt:lpwstr>
  </property>
  <property fmtid="{D5CDD505-2E9C-101B-9397-08002B2CF9AE}" pid="3" name="KSOProductBuildVer">
    <vt:lpwstr>2052-11.1.0.13020</vt:lpwstr>
  </property>
</Properties>
</file>